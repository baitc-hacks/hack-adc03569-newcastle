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Сәлеметсіздер ме! Біздің жоба — QALA LAB. Біз нәтижеге соқыр сенуді емес, сол нәтиженің қалай алынғанын тексеруді ұсынамыз. Келесі слайдтарда жұмыс істейтін прототип пен нақты тексеру жолын көрсетеміз. Ұйымдастырушының синтетикалық деректері қолданылады.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Тапсырманың формуласы бар. Бірақ өнімнің құндылығын тек бір баллмен шектемейміз. Пайдаланушы не өзгергенін, неліктен өзгергенін және модель нені айта алмайтынын түсінуі керек. 100 бірлік — теңге емес. 50 ұяшық бес ауданның он көрсеткішінен тұрады.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Тірі көрсетілімде Демо батырмасын басамыз. Бұл ұйымдастырушының тексеру мысалын жүктейді; оны ең жақсы жоспар деп ұсынбаймыз. Бір шараны алып тастағанда аяқталған сценарий нәтижесі жоғалады. Қайтадан жарамды бес шара таңдалғанда сервер бәрін қайта есептейді. Қазақша және орысша интерфейс бар.</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LLM-ге сан есептеу тапсырылмайды. Ол құрылымды жауапта heading пен fact_ids ғана қайтарады. Сервер белгілі ID-ларды тексеріп, өзіндегі факті сөйлемдерін көрсетеді. Шектеулер міндетті түрде беріледі. Нақты API осы жеткізуде кілт болмағандықтан тексерілген жоқ; сұрау және жауап логикасы mock-тесттерден өтті. Кілтсіз режим ашық белгіленген шаблон. Қорғауда live режим қосылған болса оны көрсетіңіз, болмаса offline екенін айтыңыз.</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Есеп ізі бөлімінде Нұраның S1 ұяшығын ашамыз. Түпнұсқада толық әсер 16, лаг 3. Сондықтан іске асқан әсер 10. Модаль терезеде бастапқы мән, шара атауы, формула, clip, салмақ және критикалық шек көрсетіледі. Барлық ұяшықтың журналы сақталған. Бұл тікелей есеп; нақты қалада дәл осындай нәтиже болады деген болжам емес.</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Зертхана — түпнұсқада дәл осы түрде жоқ, команда қосқан тәжірибе. Бір лагқа қосымша тоқсан қосып, тек көрсеткіш айырмасын көреміз. Жаңа Score немесе ықтималдық жасамаймыз. Ресми паспорт өзгермейді. A/B салыстыру қолданушыға фактілік айырманы береді, автоматты жеңімпазды таңдамайды. Паспорттағы SHA-256 қолтаңба немесе блокчейн емес, есепті қайталауға арналған идентификатор.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автоматты тест әдісі өтті. Оның ішінде 1000 жарамды сценарий тәуелсіз арифметикалық нұсқамен салыстырылды, 120 рет таңдау тәртібінің әсер етпейтіні тексерілді. Бұл сандарды 1225 бөлек тест деп қоспаймыз. UI managed Chromium-да жергілікті файлдар мен шын API-ға көпір арқылы тексерілді. Қалыпты URL навигациясы ортаның саясатына байланысты тексерілмеді. Нақты API кілтімен, команда ноутбугінде және Windows-та қосымша smoke test қажет.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QALA LAB пайдаланушының орнына шешім қабылдамайды. Біз есептің қалай жасалғанын көрсететін құрал ұсынамыз. Жұмыс істейтін жергілікті прототип, бастапқы код, README, тесттер және қорғау материалдары дайын. Келесі қадам — тірі API мен команда ноутбугіндегі толық демо. Нақты деректерге көшу үшін олардың рұқсаты, анықтамалары және модель коэффициенттері тексерілуі керек. Рақмет!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437"/>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D4F4B9"/>
                </a:solidFill>
                <a:latin typeface="Arial"/>
              </a:defRPr>
            </a:pPr>
            <a:r>
              <a:t>QALA LAB  /  HACKALEM</a:t>
            </a:r>
          </a:p>
        </p:txBody>
      </p:sp>
      <p:sp>
        <p:nvSpPr>
          <p:cNvPr id="3" name="TextBox 2"/>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AEC7BE"/>
                </a:solidFill>
                <a:latin typeface="Arial"/>
              </a:defRPr>
            </a:pPr>
            <a:r>
              <a:t>Синтетикалық модель. Нақты қалаға болжам немесе басқару ұсынысы емес.</a:t>
            </a:r>
          </a:p>
        </p:txBody>
      </p:sp>
      <p:sp>
        <p:nvSpPr>
          <p:cNvPr id="4" name="TextBox 3"/>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D4F4B9"/>
                </a:solidFill>
                <a:latin typeface="Arial"/>
              </a:defRPr>
            </a:pPr>
            <a:r>
              <a:t>01</a:t>
            </a:r>
          </a:p>
        </p:txBody>
      </p:sp>
      <p:sp>
        <p:nvSpPr>
          <p:cNvPr id="5" name="Rounded Rectangle 4"/>
          <p:cNvSpPr/>
          <p:nvPr/>
        </p:nvSpPr>
        <p:spPr>
          <a:xfrm>
            <a:off x="512064" y="987552"/>
            <a:ext cx="914400" cy="914400"/>
          </a:xfrm>
          <a:prstGeom prst="roundRect">
            <a:avLst>
              <a:gd name="adj" fmla="val 12000"/>
            </a:avLst>
          </a:prstGeom>
          <a:solidFill>
            <a:srgbClr val="D4F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069848"/>
            <a:ext cx="640080" cy="640080"/>
          </a:xfrm>
          <a:prstGeom prst="rect">
            <a:avLst/>
          </a:prstGeom>
          <a:noFill/>
        </p:spPr>
        <p:txBody>
          <a:bodyPr wrap="square" lIns="0" rIns="0" tIns="0" bIns="0">
            <a:spAutoFit/>
          </a:bodyPr>
          <a:lstStyle/>
          <a:p>
            <a:pPr>
              <a:spcBef>
                <a:spcPts val="0"/>
              </a:spcBef>
              <a:spcAft>
                <a:spcPts val="700"/>
              </a:spcAft>
              <a:defRPr sz="4200" b="1">
                <a:solidFill>
                  <a:srgbClr val="143437"/>
                </a:solidFill>
                <a:latin typeface="Arial"/>
              </a:defRPr>
            </a:pPr>
            <a:r>
              <a:t>Q</a:t>
            </a:r>
          </a:p>
        </p:txBody>
      </p:sp>
      <p:sp>
        <p:nvSpPr>
          <p:cNvPr id="7" name="TextBox 6"/>
          <p:cNvSpPr txBox="1"/>
          <p:nvPr/>
        </p:nvSpPr>
        <p:spPr>
          <a:xfrm>
            <a:off x="502920" y="2121408"/>
            <a:ext cx="4937760" cy="685800"/>
          </a:xfrm>
          <a:prstGeom prst="rect">
            <a:avLst/>
          </a:prstGeom>
          <a:noFill/>
        </p:spPr>
        <p:txBody>
          <a:bodyPr wrap="square" lIns="0" rIns="0" tIns="0" bIns="0">
            <a:spAutoFit/>
          </a:bodyPr>
          <a:lstStyle/>
          <a:p>
            <a:pPr>
              <a:spcBef>
                <a:spcPts val="0"/>
              </a:spcBef>
              <a:spcAft>
                <a:spcPts val="700"/>
              </a:spcAft>
              <a:defRPr sz="4700" b="1">
                <a:solidFill>
                  <a:srgbClr val="FFFFFF"/>
                </a:solidFill>
                <a:latin typeface="Arial"/>
              </a:defRPr>
            </a:pPr>
            <a:r>
              <a:t>QALA LAB</a:t>
            </a:r>
          </a:p>
        </p:txBody>
      </p:sp>
      <p:sp>
        <p:nvSpPr>
          <p:cNvPr id="8" name="TextBox 7"/>
          <p:cNvSpPr txBox="1"/>
          <p:nvPr/>
        </p:nvSpPr>
        <p:spPr>
          <a:xfrm>
            <a:off x="502920" y="3044952"/>
            <a:ext cx="5120640" cy="1234440"/>
          </a:xfrm>
          <a:prstGeom prst="rect">
            <a:avLst/>
          </a:prstGeom>
          <a:noFill/>
        </p:spPr>
        <p:txBody>
          <a:bodyPr wrap="square" lIns="0" rIns="0" tIns="0" bIns="0">
            <a:spAutoFit/>
          </a:bodyPr>
          <a:lstStyle/>
          <a:p>
            <a:pPr>
              <a:spcBef>
                <a:spcPts val="0"/>
              </a:spcBef>
              <a:spcAft>
                <a:spcPts val="700"/>
              </a:spcAft>
              <a:defRPr sz="3400" b="1">
                <a:solidFill>
                  <a:srgbClr val="D4F4B9"/>
                </a:solidFill>
                <a:latin typeface="Arial"/>
              </a:defRPr>
            </a:pPr>
            <a:r>
              <a:t>5 шешім.</a:t>
            </a:r>
          </a:p>
          <a:p>
            <a:pPr>
              <a:spcBef>
                <a:spcPts val="0"/>
              </a:spcBef>
              <a:spcAft>
                <a:spcPts val="700"/>
              </a:spcAft>
              <a:defRPr sz="3400" b="1">
                <a:solidFill>
                  <a:srgbClr val="D4F4B9"/>
                </a:solidFill>
                <a:latin typeface="Arial"/>
              </a:defRPr>
            </a:pPr>
            <a:r>
              <a:t>Әр санға дәлел.</a:t>
            </a:r>
          </a:p>
        </p:txBody>
      </p:sp>
      <p:sp>
        <p:nvSpPr>
          <p:cNvPr id="9" name="TextBox 8"/>
          <p:cNvSpPr txBox="1"/>
          <p:nvPr/>
        </p:nvSpPr>
        <p:spPr>
          <a:xfrm>
            <a:off x="530352" y="4681728"/>
            <a:ext cx="4297680" cy="731520"/>
          </a:xfrm>
          <a:prstGeom prst="rect">
            <a:avLst/>
          </a:prstGeom>
          <a:noFill/>
        </p:spPr>
        <p:txBody>
          <a:bodyPr wrap="square" lIns="0" rIns="0" tIns="0" bIns="0">
            <a:spAutoFit/>
          </a:bodyPr>
          <a:lstStyle/>
          <a:p>
            <a:pPr>
              <a:spcBef>
                <a:spcPts val="0"/>
              </a:spcBef>
              <a:spcAft>
                <a:spcPts val="700"/>
              </a:spcAft>
              <a:defRPr sz="2000" b="0">
                <a:solidFill>
                  <a:srgbClr val="D4E1DB"/>
                </a:solidFill>
                <a:latin typeface="Arial"/>
              </a:defRPr>
            </a:pPr>
            <a:r>
              <a:t>«5 сағатқа әкім» тапсырмасына</a:t>
            </a:r>
          </a:p>
          <a:p>
            <a:pPr>
              <a:spcBef>
                <a:spcPts val="0"/>
              </a:spcBef>
              <a:spcAft>
                <a:spcPts val="700"/>
              </a:spcAft>
              <a:defRPr sz="2000" b="0">
                <a:solidFill>
                  <a:srgbClr val="D4E1DB"/>
                </a:solidFill>
                <a:latin typeface="Arial"/>
              </a:defRPr>
            </a:pPr>
            <a:r>
              <a:t>арналған тексерілетін AI-симулятор</a:t>
            </a:r>
          </a:p>
        </p:txBody>
      </p:sp>
      <p:sp>
        <p:nvSpPr>
          <p:cNvPr id="10" name="Rounded Rectangle 9"/>
          <p:cNvSpPr/>
          <p:nvPr/>
        </p:nvSpPr>
        <p:spPr>
          <a:xfrm>
            <a:off x="5897880" y="987552"/>
            <a:ext cx="5779008" cy="44622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oduct_preview.png"/>
          <p:cNvPicPr>
            <a:picLocks noChangeAspect="1"/>
          </p:cNvPicPr>
          <p:nvPr/>
        </p:nvPicPr>
        <p:blipFill>
          <a:blip r:embed="rId2"/>
          <a:stretch>
            <a:fillRect/>
          </a:stretch>
        </p:blipFill>
        <p:spPr>
          <a:xfrm>
            <a:off x="5998463" y="1251917"/>
            <a:ext cx="5577840" cy="3622644"/>
          </a:xfrm>
          <a:prstGeom prst="rect">
            <a:avLst/>
          </a:prstGeom>
        </p:spPr>
      </p:pic>
      <p:sp>
        <p:nvSpPr>
          <p:cNvPr id="12" name="TextBox 11"/>
          <p:cNvSpPr txBox="1"/>
          <p:nvPr/>
        </p:nvSpPr>
        <p:spPr>
          <a:xfrm>
            <a:off x="6217920" y="5111496"/>
            <a:ext cx="5212080" cy="201168"/>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НАҚТЫ ПРОТОТИПТІҢ ИНТЕРФЕЙСІ</a:t>
            </a:r>
          </a:p>
        </p:txBody>
      </p:sp>
      <p:sp>
        <p:nvSpPr>
          <p:cNvPr id="13" name="TextBox 12"/>
          <p:cNvSpPr txBox="1"/>
          <p:nvPr/>
        </p:nvSpPr>
        <p:spPr>
          <a:xfrm>
            <a:off x="5961888" y="5669280"/>
            <a:ext cx="5486400" cy="457200"/>
          </a:xfrm>
          <a:prstGeom prst="rect">
            <a:avLst/>
          </a:prstGeom>
          <a:noFill/>
        </p:spPr>
        <p:txBody>
          <a:bodyPr wrap="square" lIns="0" rIns="0" tIns="0" bIns="0">
            <a:spAutoFit/>
          </a:bodyPr>
          <a:lstStyle/>
          <a:p>
            <a:pPr>
              <a:spcBef>
                <a:spcPts val="0"/>
              </a:spcBef>
              <a:spcAft>
                <a:spcPts val="700"/>
              </a:spcAft>
              <a:defRPr sz="1700" b="1">
                <a:solidFill>
                  <a:srgbClr val="D4F4B9"/>
                </a:solidFill>
                <a:latin typeface="Arial"/>
              </a:defRPr>
            </a:pPr>
            <a:r>
              <a:t>Адам таңдайды. Код есептейді. AI түсіндіреді.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Қорытынды сан жеткіліксіз.</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Пайдаланушы өзгерістің себебін, шегін және дереккөзін көре алуы керек.</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Негіз: Датасет районов.docx, §1–4; HackAlem тапсырмасы, 1–2-беттер. Сұрақтар — команданың өнімдік тәсілі.</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02</a:t>
            </a:r>
          </a:p>
        </p:txBody>
      </p:sp>
      <p:sp>
        <p:nvSpPr>
          <p:cNvPr id="7" name="Rounded Rectangle 6"/>
          <p:cNvSpPr/>
          <p:nvPr/>
        </p:nvSpPr>
        <p:spPr>
          <a:xfrm>
            <a:off x="548640" y="2395728"/>
            <a:ext cx="2313432" cy="1353312"/>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51176"/>
            <a:ext cx="1920240" cy="594360"/>
          </a:xfrm>
          <a:prstGeom prst="rect">
            <a:avLst/>
          </a:prstGeom>
          <a:noFill/>
        </p:spPr>
        <p:txBody>
          <a:bodyPr wrap="square" lIns="0" rIns="0" tIns="0" bIns="0">
            <a:spAutoFit/>
          </a:bodyPr>
          <a:lstStyle/>
          <a:p>
            <a:pPr>
              <a:spcBef>
                <a:spcPts val="0"/>
              </a:spcBef>
              <a:spcAft>
                <a:spcPts val="700"/>
              </a:spcAft>
              <a:defRPr sz="3500" b="1">
                <a:solidFill>
                  <a:srgbClr val="226D5B"/>
                </a:solidFill>
                <a:latin typeface="Arial"/>
              </a:defRPr>
            </a:pPr>
            <a:r>
              <a:t>100</a:t>
            </a:r>
          </a:p>
        </p:txBody>
      </p:sp>
      <p:sp>
        <p:nvSpPr>
          <p:cNvPr id="9" name="TextBox 8"/>
          <p:cNvSpPr txBox="1"/>
          <p:nvPr/>
        </p:nvSpPr>
        <p:spPr>
          <a:xfrm>
            <a:off x="749808" y="3255264"/>
            <a:ext cx="1947672" cy="256032"/>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шартты бюджет</a:t>
            </a:r>
          </a:p>
        </p:txBody>
      </p:sp>
      <p:sp>
        <p:nvSpPr>
          <p:cNvPr id="10" name="Rounded Rectangle 9"/>
          <p:cNvSpPr/>
          <p:nvPr/>
        </p:nvSpPr>
        <p:spPr>
          <a:xfrm>
            <a:off x="3474720" y="2395728"/>
            <a:ext cx="2313432" cy="1353312"/>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5887" y="2551176"/>
            <a:ext cx="1920240" cy="594360"/>
          </a:xfrm>
          <a:prstGeom prst="rect">
            <a:avLst/>
          </a:prstGeom>
          <a:noFill/>
        </p:spPr>
        <p:txBody>
          <a:bodyPr wrap="square" lIns="0" rIns="0" tIns="0" bIns="0">
            <a:spAutoFit/>
          </a:bodyPr>
          <a:lstStyle/>
          <a:p>
            <a:pPr>
              <a:spcBef>
                <a:spcPts val="0"/>
              </a:spcBef>
              <a:spcAft>
                <a:spcPts val="700"/>
              </a:spcAft>
              <a:defRPr sz="3500" b="1">
                <a:solidFill>
                  <a:srgbClr val="226D5B"/>
                </a:solidFill>
                <a:latin typeface="Arial"/>
              </a:defRPr>
            </a:pPr>
            <a:r>
              <a:t>5</a:t>
            </a:r>
          </a:p>
        </p:txBody>
      </p:sp>
      <p:sp>
        <p:nvSpPr>
          <p:cNvPr id="12" name="TextBox 11"/>
          <p:cNvSpPr txBox="1"/>
          <p:nvPr/>
        </p:nvSpPr>
        <p:spPr>
          <a:xfrm>
            <a:off x="3675887" y="3255264"/>
            <a:ext cx="1947672" cy="256032"/>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міндетті шешім</a:t>
            </a:r>
          </a:p>
        </p:txBody>
      </p:sp>
      <p:sp>
        <p:nvSpPr>
          <p:cNvPr id="13" name="Rounded Rectangle 12"/>
          <p:cNvSpPr/>
          <p:nvPr/>
        </p:nvSpPr>
        <p:spPr>
          <a:xfrm>
            <a:off x="6400800" y="2395728"/>
            <a:ext cx="2313432" cy="1353312"/>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2551176"/>
            <a:ext cx="1920240" cy="594360"/>
          </a:xfrm>
          <a:prstGeom prst="rect">
            <a:avLst/>
          </a:prstGeom>
          <a:noFill/>
        </p:spPr>
        <p:txBody>
          <a:bodyPr wrap="square" lIns="0" rIns="0" tIns="0" bIns="0">
            <a:spAutoFit/>
          </a:bodyPr>
          <a:lstStyle/>
          <a:p>
            <a:pPr>
              <a:spcBef>
                <a:spcPts val="0"/>
              </a:spcBef>
              <a:spcAft>
                <a:spcPts val="700"/>
              </a:spcAft>
              <a:defRPr sz="3500" b="1">
                <a:solidFill>
                  <a:srgbClr val="226D5B"/>
                </a:solidFill>
                <a:latin typeface="Arial"/>
              </a:defRPr>
            </a:pPr>
            <a:r>
              <a:t>14</a:t>
            </a:r>
          </a:p>
        </p:txBody>
      </p:sp>
      <p:sp>
        <p:nvSpPr>
          <p:cNvPr id="15" name="TextBox 14"/>
          <p:cNvSpPr txBox="1"/>
          <p:nvPr/>
        </p:nvSpPr>
        <p:spPr>
          <a:xfrm>
            <a:off x="6601968" y="3255264"/>
            <a:ext cx="1947672" cy="256032"/>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каталогтағы шара</a:t>
            </a:r>
          </a:p>
        </p:txBody>
      </p:sp>
      <p:sp>
        <p:nvSpPr>
          <p:cNvPr id="16" name="Rounded Rectangle 15"/>
          <p:cNvSpPr/>
          <p:nvPr/>
        </p:nvSpPr>
        <p:spPr>
          <a:xfrm>
            <a:off x="9326880" y="2395728"/>
            <a:ext cx="2313432" cy="1353312"/>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8048" y="2551176"/>
            <a:ext cx="1920240" cy="594360"/>
          </a:xfrm>
          <a:prstGeom prst="rect">
            <a:avLst/>
          </a:prstGeom>
          <a:noFill/>
        </p:spPr>
        <p:txBody>
          <a:bodyPr wrap="square" lIns="0" rIns="0" tIns="0" bIns="0">
            <a:spAutoFit/>
          </a:bodyPr>
          <a:lstStyle/>
          <a:p>
            <a:pPr>
              <a:spcBef>
                <a:spcPts val="0"/>
              </a:spcBef>
              <a:spcAft>
                <a:spcPts val="700"/>
              </a:spcAft>
              <a:defRPr sz="3500" b="1">
                <a:solidFill>
                  <a:srgbClr val="226D5B"/>
                </a:solidFill>
                <a:latin typeface="Arial"/>
              </a:defRPr>
            </a:pPr>
            <a:r>
              <a:t>50</a:t>
            </a:r>
          </a:p>
        </p:txBody>
      </p:sp>
      <p:sp>
        <p:nvSpPr>
          <p:cNvPr id="18" name="TextBox 17"/>
          <p:cNvSpPr txBox="1"/>
          <p:nvPr/>
        </p:nvSpPr>
        <p:spPr>
          <a:xfrm>
            <a:off x="9528048" y="3255264"/>
            <a:ext cx="1947672" cy="256032"/>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аудан × көрсеткіш</a:t>
            </a:r>
          </a:p>
        </p:txBody>
      </p:sp>
      <p:sp>
        <p:nvSpPr>
          <p:cNvPr id="19" name="TextBox 18"/>
          <p:cNvSpPr txBox="1"/>
          <p:nvPr/>
        </p:nvSpPr>
        <p:spPr>
          <a:xfrm>
            <a:off x="548640" y="4224528"/>
            <a:ext cx="914400" cy="274320"/>
          </a:xfrm>
          <a:prstGeom prst="rect">
            <a:avLst/>
          </a:prstGeom>
          <a:noFill/>
        </p:spPr>
        <p:txBody>
          <a:bodyPr wrap="square" lIns="0" rIns="0" tIns="0" bIns="0">
            <a:spAutoFit/>
          </a:bodyPr>
          <a:lstStyle/>
          <a:p>
            <a:pPr>
              <a:spcBef>
                <a:spcPts val="0"/>
              </a:spcBef>
              <a:spcAft>
                <a:spcPts val="700"/>
              </a:spcAft>
              <a:defRPr sz="1200" b="1">
                <a:solidFill>
                  <a:srgbClr val="226D5B"/>
                </a:solidFill>
                <a:latin typeface="Arial"/>
              </a:defRPr>
            </a:pPr>
            <a:r>
              <a:t>01</a:t>
            </a:r>
          </a:p>
        </p:txBody>
      </p:sp>
      <p:sp>
        <p:nvSpPr>
          <p:cNvPr id="20" name="TextBox 19"/>
          <p:cNvSpPr txBox="1"/>
          <p:nvPr/>
        </p:nvSpPr>
        <p:spPr>
          <a:xfrm>
            <a:off x="548640" y="4626864"/>
            <a:ext cx="338328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Не өзгерді?</a:t>
            </a:r>
          </a:p>
        </p:txBody>
      </p:sp>
      <p:sp>
        <p:nvSpPr>
          <p:cNvPr id="21" name="TextBox 20"/>
          <p:cNvSpPr txBox="1"/>
          <p:nvPr/>
        </p:nvSpPr>
        <p:spPr>
          <a:xfrm>
            <a:off x="548640" y="5230368"/>
            <a:ext cx="3246120" cy="777240"/>
          </a:xfrm>
          <a:prstGeom prst="rect">
            <a:avLst/>
          </a:prstGeom>
          <a:noFill/>
        </p:spPr>
        <p:txBody>
          <a:bodyPr wrap="square" lIns="0" rIns="0" tIns="0" bIns="0">
            <a:spAutoFit/>
          </a:bodyPr>
          <a:lstStyle/>
          <a:p>
            <a:pPr>
              <a:spcBef>
                <a:spcPts val="0"/>
              </a:spcBef>
              <a:spcAft>
                <a:spcPts val="700"/>
              </a:spcAft>
              <a:defRPr sz="1700" b="0">
                <a:solidFill>
                  <a:srgbClr val="607575"/>
                </a:solidFill>
                <a:latin typeface="Arial"/>
              </a:defRPr>
            </a:pPr>
            <a:r>
              <a:t>Аудан, көрсеткіш және</a:t>
            </a:r>
          </a:p>
          <a:p>
            <a:pPr>
              <a:spcBef>
                <a:spcPts val="0"/>
              </a:spcBef>
              <a:spcAft>
                <a:spcPts val="700"/>
              </a:spcAft>
              <a:defRPr sz="1700" b="0">
                <a:solidFill>
                  <a:srgbClr val="607575"/>
                </a:solidFill>
                <a:latin typeface="Arial"/>
              </a:defRPr>
            </a:pPr>
            <a:r>
              <a:t>шара әсері бөлек көрінеді.</a:t>
            </a:r>
          </a:p>
        </p:txBody>
      </p:sp>
      <p:sp>
        <p:nvSpPr>
          <p:cNvPr id="22" name="TextBox 21"/>
          <p:cNvSpPr txBox="1"/>
          <p:nvPr/>
        </p:nvSpPr>
        <p:spPr>
          <a:xfrm>
            <a:off x="4443984" y="4224528"/>
            <a:ext cx="914400" cy="274320"/>
          </a:xfrm>
          <a:prstGeom prst="rect">
            <a:avLst/>
          </a:prstGeom>
          <a:noFill/>
        </p:spPr>
        <p:txBody>
          <a:bodyPr wrap="square" lIns="0" rIns="0" tIns="0" bIns="0">
            <a:spAutoFit/>
          </a:bodyPr>
          <a:lstStyle/>
          <a:p>
            <a:pPr>
              <a:spcBef>
                <a:spcPts val="0"/>
              </a:spcBef>
              <a:spcAft>
                <a:spcPts val="700"/>
              </a:spcAft>
              <a:defRPr sz="1200" b="1">
                <a:solidFill>
                  <a:srgbClr val="226D5B"/>
                </a:solidFill>
                <a:latin typeface="Arial"/>
              </a:defRPr>
            </a:pPr>
            <a:r>
              <a:t>02</a:t>
            </a:r>
          </a:p>
        </p:txBody>
      </p:sp>
      <p:sp>
        <p:nvSpPr>
          <p:cNvPr id="23" name="TextBox 22"/>
          <p:cNvSpPr txBox="1"/>
          <p:nvPr/>
        </p:nvSpPr>
        <p:spPr>
          <a:xfrm>
            <a:off x="4443984" y="4626864"/>
            <a:ext cx="338328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Неге өзгерді?</a:t>
            </a:r>
          </a:p>
        </p:txBody>
      </p:sp>
      <p:sp>
        <p:nvSpPr>
          <p:cNvPr id="24" name="TextBox 23"/>
          <p:cNvSpPr txBox="1"/>
          <p:nvPr/>
        </p:nvSpPr>
        <p:spPr>
          <a:xfrm>
            <a:off x="4443984" y="5230368"/>
            <a:ext cx="3246120" cy="777240"/>
          </a:xfrm>
          <a:prstGeom prst="rect">
            <a:avLst/>
          </a:prstGeom>
          <a:noFill/>
        </p:spPr>
        <p:txBody>
          <a:bodyPr wrap="square" lIns="0" rIns="0" tIns="0" bIns="0">
            <a:spAutoFit/>
          </a:bodyPr>
          <a:lstStyle/>
          <a:p>
            <a:pPr>
              <a:spcBef>
                <a:spcPts val="0"/>
              </a:spcBef>
              <a:spcAft>
                <a:spcPts val="700"/>
              </a:spcAft>
              <a:defRPr sz="1700" b="0">
                <a:solidFill>
                  <a:srgbClr val="607575"/>
                </a:solidFill>
                <a:latin typeface="Arial"/>
              </a:defRPr>
            </a:pPr>
            <a:r>
              <a:t>Лаг, синергия, салмақ</a:t>
            </a:r>
          </a:p>
          <a:p>
            <a:pPr>
              <a:spcBef>
                <a:spcPts val="0"/>
              </a:spcBef>
              <a:spcAft>
                <a:spcPts val="700"/>
              </a:spcAft>
              <a:defRPr sz="1700" b="0">
                <a:solidFill>
                  <a:srgbClr val="607575"/>
                </a:solidFill>
                <a:latin typeface="Arial"/>
              </a:defRPr>
            </a:pPr>
            <a:r>
              <a:t>және шектеу ашылады.</a:t>
            </a:r>
          </a:p>
        </p:txBody>
      </p:sp>
      <p:sp>
        <p:nvSpPr>
          <p:cNvPr id="25" name="TextBox 24"/>
          <p:cNvSpPr txBox="1"/>
          <p:nvPr/>
        </p:nvSpPr>
        <p:spPr>
          <a:xfrm>
            <a:off x="8339327" y="4224528"/>
            <a:ext cx="914400" cy="274320"/>
          </a:xfrm>
          <a:prstGeom prst="rect">
            <a:avLst/>
          </a:prstGeom>
          <a:noFill/>
        </p:spPr>
        <p:txBody>
          <a:bodyPr wrap="square" lIns="0" rIns="0" tIns="0" bIns="0">
            <a:spAutoFit/>
          </a:bodyPr>
          <a:lstStyle/>
          <a:p>
            <a:pPr>
              <a:spcBef>
                <a:spcPts val="0"/>
              </a:spcBef>
              <a:spcAft>
                <a:spcPts val="700"/>
              </a:spcAft>
              <a:defRPr sz="1200" b="1">
                <a:solidFill>
                  <a:srgbClr val="226D5B"/>
                </a:solidFill>
                <a:latin typeface="Arial"/>
              </a:defRPr>
            </a:pPr>
            <a:r>
              <a:t>03</a:t>
            </a:r>
          </a:p>
        </p:txBody>
      </p:sp>
      <p:sp>
        <p:nvSpPr>
          <p:cNvPr id="26" name="TextBox 25"/>
          <p:cNvSpPr txBox="1"/>
          <p:nvPr/>
        </p:nvSpPr>
        <p:spPr>
          <a:xfrm>
            <a:off x="8339327" y="4626864"/>
            <a:ext cx="338328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Нені білмейміз?</a:t>
            </a:r>
          </a:p>
        </p:txBody>
      </p:sp>
      <p:sp>
        <p:nvSpPr>
          <p:cNvPr id="27" name="TextBox 26"/>
          <p:cNvSpPr txBox="1"/>
          <p:nvPr/>
        </p:nvSpPr>
        <p:spPr>
          <a:xfrm>
            <a:off x="8339327" y="5230368"/>
            <a:ext cx="3246120" cy="777240"/>
          </a:xfrm>
          <a:prstGeom prst="rect">
            <a:avLst/>
          </a:prstGeom>
          <a:noFill/>
        </p:spPr>
        <p:txBody>
          <a:bodyPr wrap="square" lIns="0" rIns="0" tIns="0" bIns="0">
            <a:spAutoFit/>
          </a:bodyPr>
          <a:lstStyle/>
          <a:p>
            <a:pPr>
              <a:spcBef>
                <a:spcPts val="0"/>
              </a:spcBef>
              <a:spcAft>
                <a:spcPts val="700"/>
              </a:spcAft>
              <a:defRPr sz="1700" b="0">
                <a:solidFill>
                  <a:srgbClr val="607575"/>
                </a:solidFill>
                <a:latin typeface="Arial"/>
              </a:defRPr>
            </a:pPr>
            <a:r>
              <a:t>Жорамалдар мен модель</a:t>
            </a:r>
          </a:p>
          <a:p>
            <a:pPr>
              <a:spcBef>
                <a:spcPts val="0"/>
              </a:spcBef>
              <a:spcAft>
                <a:spcPts val="700"/>
              </a:spcAft>
              <a:defRPr sz="1700" b="0">
                <a:solidFill>
                  <a:srgbClr val="607575"/>
                </a:solidFill>
                <a:latin typeface="Arial"/>
              </a:defRPr>
            </a:pPr>
            <a:r>
              <a:t>шектеулері жасырылмайды.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Бір экраннан — толық сценарийге.</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Бюджет пен ережелер серверде тексеріледі. Жарамсыз жиынтыққа нәтиже берілмейді.</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Синтетикалық модель. Нақты қалаға болжам немесе басқару ұсынысы емес.</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03</a:t>
            </a:r>
          </a:p>
        </p:txBody>
      </p:sp>
      <p:sp>
        <p:nvSpPr>
          <p:cNvPr id="7" name="Rounded Rectangle 6"/>
          <p:cNvSpPr/>
          <p:nvPr/>
        </p:nvSpPr>
        <p:spPr>
          <a:xfrm>
            <a:off x="502920" y="2221992"/>
            <a:ext cx="7607808" cy="4078224"/>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roduct_preview.png"/>
          <p:cNvPicPr>
            <a:picLocks noChangeAspect="1"/>
          </p:cNvPicPr>
          <p:nvPr/>
        </p:nvPicPr>
        <p:blipFill>
          <a:blip r:embed="rId2"/>
          <a:stretch>
            <a:fillRect/>
          </a:stretch>
        </p:blipFill>
        <p:spPr>
          <a:xfrm>
            <a:off x="1270662" y="2286000"/>
            <a:ext cx="6054035" cy="3931920"/>
          </a:xfrm>
          <a:prstGeom prst="rect">
            <a:avLst/>
          </a:prstGeom>
        </p:spPr>
      </p:pic>
      <p:sp>
        <p:nvSpPr>
          <p:cNvPr id="9" name="Rounded Rectangle 8"/>
          <p:cNvSpPr/>
          <p:nvPr/>
        </p:nvSpPr>
        <p:spPr>
          <a:xfrm>
            <a:off x="8385048" y="2377440"/>
            <a:ext cx="393192" cy="393192"/>
          </a:xfrm>
          <a:prstGeom prst="roundRect">
            <a:avLst>
              <a:gd name="adj" fmla="val 12000"/>
            </a:avLst>
          </a:prstGeom>
          <a:solidFill>
            <a:srgbClr val="D4F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2436876"/>
            <a:ext cx="182880" cy="182880"/>
          </a:xfrm>
          <a:prstGeom prst="rect">
            <a:avLst/>
          </a:prstGeom>
          <a:noFill/>
        </p:spPr>
        <p:txBody>
          <a:bodyPr wrap="square" lIns="0" rIns="0" tIns="0" bIns="0">
            <a:spAutoFit/>
          </a:bodyPr>
          <a:lstStyle/>
          <a:p>
            <a:pPr>
              <a:spcBef>
                <a:spcPts val="0"/>
              </a:spcBef>
              <a:spcAft>
                <a:spcPts val="700"/>
              </a:spcAft>
              <a:defRPr sz="1300" b="1">
                <a:solidFill>
                  <a:srgbClr val="226D5B"/>
                </a:solidFill>
                <a:latin typeface="Arial"/>
              </a:defRPr>
            </a:pPr>
            <a:r>
              <a:t>1</a:t>
            </a:r>
          </a:p>
        </p:txBody>
      </p:sp>
      <p:sp>
        <p:nvSpPr>
          <p:cNvPr id="11" name="TextBox 10"/>
          <p:cNvSpPr txBox="1"/>
          <p:nvPr/>
        </p:nvSpPr>
        <p:spPr>
          <a:xfrm>
            <a:off x="8988552" y="2377440"/>
            <a:ext cx="242316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Таңдау</a:t>
            </a:r>
          </a:p>
        </p:txBody>
      </p:sp>
      <p:sp>
        <p:nvSpPr>
          <p:cNvPr id="12" name="TextBox 11"/>
          <p:cNvSpPr txBox="1"/>
          <p:nvPr/>
        </p:nvSpPr>
        <p:spPr>
          <a:xfrm>
            <a:off x="8988552" y="2862072"/>
            <a:ext cx="2487168" cy="640080"/>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14 шара, аудан, құн, лаг.</a:t>
            </a:r>
          </a:p>
        </p:txBody>
      </p:sp>
      <p:sp>
        <p:nvSpPr>
          <p:cNvPr id="13" name="Rounded Rectangle 12"/>
          <p:cNvSpPr/>
          <p:nvPr/>
        </p:nvSpPr>
        <p:spPr>
          <a:xfrm>
            <a:off x="8385048" y="3566160"/>
            <a:ext cx="393192" cy="393192"/>
          </a:xfrm>
          <a:prstGeom prst="roundRect">
            <a:avLst>
              <a:gd name="adj" fmla="val 12000"/>
            </a:avLst>
          </a:prstGeom>
          <a:solidFill>
            <a:srgbClr val="D4F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3625596"/>
            <a:ext cx="182880" cy="182880"/>
          </a:xfrm>
          <a:prstGeom prst="rect">
            <a:avLst/>
          </a:prstGeom>
          <a:noFill/>
        </p:spPr>
        <p:txBody>
          <a:bodyPr wrap="square" lIns="0" rIns="0" tIns="0" bIns="0">
            <a:spAutoFit/>
          </a:bodyPr>
          <a:lstStyle/>
          <a:p>
            <a:pPr>
              <a:spcBef>
                <a:spcPts val="0"/>
              </a:spcBef>
              <a:spcAft>
                <a:spcPts val="700"/>
              </a:spcAft>
              <a:defRPr sz="1300" b="1">
                <a:solidFill>
                  <a:srgbClr val="226D5B"/>
                </a:solidFill>
                <a:latin typeface="Arial"/>
              </a:defRPr>
            </a:pPr>
            <a:r>
              <a:t>2</a:t>
            </a:r>
          </a:p>
        </p:txBody>
      </p:sp>
      <p:sp>
        <p:nvSpPr>
          <p:cNvPr id="15" name="TextBox 14"/>
          <p:cNvSpPr txBox="1"/>
          <p:nvPr/>
        </p:nvSpPr>
        <p:spPr>
          <a:xfrm>
            <a:off x="8988552" y="3566160"/>
            <a:ext cx="242316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Тексеру</a:t>
            </a:r>
          </a:p>
        </p:txBody>
      </p:sp>
      <p:sp>
        <p:nvSpPr>
          <p:cNvPr id="16" name="TextBox 15"/>
          <p:cNvSpPr txBox="1"/>
          <p:nvPr/>
        </p:nvSpPr>
        <p:spPr>
          <a:xfrm>
            <a:off x="8988552" y="4050791"/>
            <a:ext cx="2487168" cy="640080"/>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Дәл 5, бюджет, бағыт,</a:t>
            </a:r>
          </a:p>
          <a:p>
            <a:pPr>
              <a:spcBef>
                <a:spcPts val="0"/>
              </a:spcBef>
              <a:spcAft>
                <a:spcPts val="700"/>
              </a:spcAft>
              <a:defRPr sz="1600" b="0">
                <a:solidFill>
                  <a:srgbClr val="607575"/>
                </a:solidFill>
                <a:latin typeface="Arial"/>
              </a:defRPr>
            </a:pPr>
            <a:r>
              <a:t>қайталану, сәйкессіздік.</a:t>
            </a:r>
          </a:p>
        </p:txBody>
      </p:sp>
      <p:sp>
        <p:nvSpPr>
          <p:cNvPr id="17" name="Rounded Rectangle 16"/>
          <p:cNvSpPr/>
          <p:nvPr/>
        </p:nvSpPr>
        <p:spPr>
          <a:xfrm>
            <a:off x="8385048" y="4956048"/>
            <a:ext cx="393192" cy="393192"/>
          </a:xfrm>
          <a:prstGeom prst="roundRect">
            <a:avLst>
              <a:gd name="adj" fmla="val 12000"/>
            </a:avLst>
          </a:prstGeom>
          <a:solidFill>
            <a:srgbClr val="D4F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5015484"/>
            <a:ext cx="182880" cy="182880"/>
          </a:xfrm>
          <a:prstGeom prst="rect">
            <a:avLst/>
          </a:prstGeom>
          <a:noFill/>
        </p:spPr>
        <p:txBody>
          <a:bodyPr wrap="square" lIns="0" rIns="0" tIns="0" bIns="0">
            <a:spAutoFit/>
          </a:bodyPr>
          <a:lstStyle/>
          <a:p>
            <a:pPr>
              <a:spcBef>
                <a:spcPts val="0"/>
              </a:spcBef>
              <a:spcAft>
                <a:spcPts val="700"/>
              </a:spcAft>
              <a:defRPr sz="1300" b="1">
                <a:solidFill>
                  <a:srgbClr val="226D5B"/>
                </a:solidFill>
                <a:latin typeface="Arial"/>
              </a:defRPr>
            </a:pPr>
            <a:r>
              <a:t>3</a:t>
            </a:r>
          </a:p>
        </p:txBody>
      </p:sp>
      <p:sp>
        <p:nvSpPr>
          <p:cNvPr id="19" name="TextBox 18"/>
          <p:cNvSpPr txBox="1"/>
          <p:nvPr/>
        </p:nvSpPr>
        <p:spPr>
          <a:xfrm>
            <a:off x="8988552" y="4956048"/>
            <a:ext cx="2423160" cy="365760"/>
          </a:xfrm>
          <a:prstGeom prst="rect">
            <a:avLst/>
          </a:prstGeom>
          <a:noFill/>
        </p:spPr>
        <p:txBody>
          <a:bodyPr wrap="square" lIns="0" rIns="0" tIns="0" bIns="0">
            <a:spAutoFit/>
          </a:bodyPr>
          <a:lstStyle/>
          <a:p>
            <a:pPr>
              <a:spcBef>
                <a:spcPts val="0"/>
              </a:spcBef>
              <a:spcAft>
                <a:spcPts val="700"/>
              </a:spcAft>
              <a:defRPr sz="2300" b="1">
                <a:solidFill>
                  <a:srgbClr val="173C3E"/>
                </a:solidFill>
                <a:latin typeface="Arial"/>
              </a:defRPr>
            </a:pPr>
            <a:r>
              <a:t>Түсіну</a:t>
            </a:r>
          </a:p>
        </p:txBody>
      </p:sp>
      <p:sp>
        <p:nvSpPr>
          <p:cNvPr id="20" name="TextBox 19"/>
          <p:cNvSpPr txBox="1"/>
          <p:nvPr/>
        </p:nvSpPr>
        <p:spPr>
          <a:xfrm>
            <a:off x="8988552" y="5440680"/>
            <a:ext cx="2487168" cy="640080"/>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Көрсеткіштер, есеп ізі,</a:t>
            </a:r>
          </a:p>
          <a:p>
            <a:pPr>
              <a:spcBef>
                <a:spcPts val="0"/>
              </a:spcBef>
              <a:spcAft>
                <a:spcPts val="700"/>
              </a:spcAft>
              <a:defRPr sz="1600" b="0">
                <a:solidFill>
                  <a:srgbClr val="607575"/>
                </a:solidFill>
                <a:latin typeface="Arial"/>
              </a:defRPr>
            </a:pPr>
            <a:r>
              <a:t>түсіндірме және экспорт.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AI есептемейді. Дәлелді таңдайды.</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Түсіндірмедегі сандар LLM еркін мәтінінен емес, сервердегі есептен алынады.</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Синтетикалық модель. Нақты қалаға болжам немесе басқару ұсынысы емес.</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04</a:t>
            </a:r>
          </a:p>
        </p:txBody>
      </p:sp>
      <p:sp>
        <p:nvSpPr>
          <p:cNvPr id="7" name="Rounded Rectangle 6"/>
          <p:cNvSpPr/>
          <p:nvPr/>
        </p:nvSpPr>
        <p:spPr>
          <a:xfrm>
            <a:off x="530352" y="2441448"/>
            <a:ext cx="2084831" cy="1892807"/>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2633472"/>
            <a:ext cx="914400" cy="219456"/>
          </a:xfrm>
          <a:prstGeom prst="rect">
            <a:avLst/>
          </a:prstGeom>
          <a:noFill/>
        </p:spPr>
        <p:txBody>
          <a:bodyPr wrap="square" lIns="0" rIns="0" tIns="0" bIns="0">
            <a:spAutoFit/>
          </a:bodyPr>
          <a:lstStyle/>
          <a:p>
            <a:pPr>
              <a:spcBef>
                <a:spcPts val="0"/>
              </a:spcBef>
              <a:spcAft>
                <a:spcPts val="700"/>
              </a:spcAft>
              <a:defRPr sz="1100" b="1">
                <a:solidFill>
                  <a:srgbClr val="226D5B"/>
                </a:solidFill>
                <a:latin typeface="Arial"/>
              </a:defRPr>
            </a:pPr>
            <a:r>
              <a:t>01</a:t>
            </a:r>
          </a:p>
        </p:txBody>
      </p:sp>
      <p:sp>
        <p:nvSpPr>
          <p:cNvPr id="9" name="TextBox 8"/>
          <p:cNvSpPr txBox="1"/>
          <p:nvPr/>
        </p:nvSpPr>
        <p:spPr>
          <a:xfrm>
            <a:off x="704088" y="3035808"/>
            <a:ext cx="1819656"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Ережелер</a:t>
            </a:r>
          </a:p>
        </p:txBody>
      </p:sp>
      <p:sp>
        <p:nvSpPr>
          <p:cNvPr id="10" name="TextBox 9"/>
          <p:cNvSpPr txBox="1"/>
          <p:nvPr/>
        </p:nvSpPr>
        <p:spPr>
          <a:xfrm>
            <a:off x="704088" y="3611880"/>
            <a:ext cx="1755648" cy="566928"/>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Серверлік</a:t>
            </a:r>
          </a:p>
          <a:p>
            <a:pPr>
              <a:spcBef>
                <a:spcPts val="0"/>
              </a:spcBef>
              <a:spcAft>
                <a:spcPts val="700"/>
              </a:spcAft>
              <a:defRPr sz="1400" b="0">
                <a:solidFill>
                  <a:srgbClr val="607575"/>
                </a:solidFill>
                <a:latin typeface="Arial"/>
              </a:defRPr>
            </a:pPr>
            <a:r>
              <a:t>валидация</a:t>
            </a:r>
          </a:p>
        </p:txBody>
      </p:sp>
      <p:sp>
        <p:nvSpPr>
          <p:cNvPr id="11" name="TextBox 10"/>
          <p:cNvSpPr txBox="1"/>
          <p:nvPr/>
        </p:nvSpPr>
        <p:spPr>
          <a:xfrm>
            <a:off x="2670048" y="3136392"/>
            <a:ext cx="201168" cy="274320"/>
          </a:xfrm>
          <a:prstGeom prst="rect">
            <a:avLst/>
          </a:prstGeom>
          <a:noFill/>
        </p:spPr>
        <p:txBody>
          <a:bodyPr wrap="square" lIns="0" rIns="0" tIns="0" bIns="0">
            <a:spAutoFit/>
          </a:bodyPr>
          <a:lstStyle/>
          <a:p>
            <a:pPr>
              <a:spcBef>
                <a:spcPts val="0"/>
              </a:spcBef>
              <a:spcAft>
                <a:spcPts val="700"/>
              </a:spcAft>
              <a:defRPr sz="1600" b="1">
                <a:solidFill>
                  <a:srgbClr val="226D5B"/>
                </a:solidFill>
                <a:latin typeface="Arial"/>
              </a:defRPr>
            </a:pPr>
            <a:r>
              <a:t>→</a:t>
            </a:r>
          </a:p>
        </p:txBody>
      </p:sp>
      <p:sp>
        <p:nvSpPr>
          <p:cNvPr id="12" name="Rounded Rectangle 11"/>
          <p:cNvSpPr/>
          <p:nvPr/>
        </p:nvSpPr>
        <p:spPr>
          <a:xfrm>
            <a:off x="2889504" y="2441448"/>
            <a:ext cx="2084831" cy="1892807"/>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2633472"/>
            <a:ext cx="914400" cy="219456"/>
          </a:xfrm>
          <a:prstGeom prst="rect">
            <a:avLst/>
          </a:prstGeom>
          <a:noFill/>
        </p:spPr>
        <p:txBody>
          <a:bodyPr wrap="square" lIns="0" rIns="0" tIns="0" bIns="0">
            <a:spAutoFit/>
          </a:bodyPr>
          <a:lstStyle/>
          <a:p>
            <a:pPr>
              <a:spcBef>
                <a:spcPts val="0"/>
              </a:spcBef>
              <a:spcAft>
                <a:spcPts val="700"/>
              </a:spcAft>
              <a:defRPr sz="1100" b="1">
                <a:solidFill>
                  <a:srgbClr val="226D5B"/>
                </a:solidFill>
                <a:latin typeface="Arial"/>
              </a:defRPr>
            </a:pPr>
            <a:r>
              <a:t>02</a:t>
            </a:r>
          </a:p>
        </p:txBody>
      </p:sp>
      <p:sp>
        <p:nvSpPr>
          <p:cNvPr id="14" name="TextBox 13"/>
          <p:cNvSpPr txBox="1"/>
          <p:nvPr/>
        </p:nvSpPr>
        <p:spPr>
          <a:xfrm>
            <a:off x="3063240" y="3035808"/>
            <a:ext cx="1819656"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Есептеу</a:t>
            </a:r>
          </a:p>
        </p:txBody>
      </p:sp>
      <p:sp>
        <p:nvSpPr>
          <p:cNvPr id="15" name="TextBox 14"/>
          <p:cNvSpPr txBox="1"/>
          <p:nvPr/>
        </p:nvSpPr>
        <p:spPr>
          <a:xfrm>
            <a:off x="3063240" y="3611880"/>
            <a:ext cx="1755648" cy="566928"/>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Decimal +</a:t>
            </a:r>
          </a:p>
          <a:p>
            <a:pPr>
              <a:spcBef>
                <a:spcPts val="0"/>
              </a:spcBef>
              <a:spcAft>
                <a:spcPts val="700"/>
              </a:spcAft>
              <a:defRPr sz="1400" b="0">
                <a:solidFill>
                  <a:srgbClr val="607575"/>
                </a:solidFill>
                <a:latin typeface="Arial"/>
              </a:defRPr>
            </a:pPr>
            <a:r>
              <a:t>50 ұяшық ізі</a:t>
            </a:r>
          </a:p>
        </p:txBody>
      </p:sp>
      <p:sp>
        <p:nvSpPr>
          <p:cNvPr id="16" name="TextBox 15"/>
          <p:cNvSpPr txBox="1"/>
          <p:nvPr/>
        </p:nvSpPr>
        <p:spPr>
          <a:xfrm>
            <a:off x="5029200" y="3136392"/>
            <a:ext cx="201168" cy="274320"/>
          </a:xfrm>
          <a:prstGeom prst="rect">
            <a:avLst/>
          </a:prstGeom>
          <a:noFill/>
        </p:spPr>
        <p:txBody>
          <a:bodyPr wrap="square" lIns="0" rIns="0" tIns="0" bIns="0">
            <a:spAutoFit/>
          </a:bodyPr>
          <a:lstStyle/>
          <a:p>
            <a:pPr>
              <a:spcBef>
                <a:spcPts val="0"/>
              </a:spcBef>
              <a:spcAft>
                <a:spcPts val="700"/>
              </a:spcAft>
              <a:defRPr sz="1600" b="1">
                <a:solidFill>
                  <a:srgbClr val="226D5B"/>
                </a:solidFill>
                <a:latin typeface="Arial"/>
              </a:defRPr>
            </a:pPr>
            <a:r>
              <a:t>→</a:t>
            </a:r>
          </a:p>
        </p:txBody>
      </p:sp>
      <p:sp>
        <p:nvSpPr>
          <p:cNvPr id="17" name="Rounded Rectangle 16"/>
          <p:cNvSpPr/>
          <p:nvPr/>
        </p:nvSpPr>
        <p:spPr>
          <a:xfrm>
            <a:off x="5248656" y="2441448"/>
            <a:ext cx="2084831" cy="1892807"/>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2392" y="2633472"/>
            <a:ext cx="914400" cy="219456"/>
          </a:xfrm>
          <a:prstGeom prst="rect">
            <a:avLst/>
          </a:prstGeom>
          <a:noFill/>
        </p:spPr>
        <p:txBody>
          <a:bodyPr wrap="square" lIns="0" rIns="0" tIns="0" bIns="0">
            <a:spAutoFit/>
          </a:bodyPr>
          <a:lstStyle/>
          <a:p>
            <a:pPr>
              <a:spcBef>
                <a:spcPts val="0"/>
              </a:spcBef>
              <a:spcAft>
                <a:spcPts val="700"/>
              </a:spcAft>
              <a:defRPr sz="1100" b="1">
                <a:solidFill>
                  <a:srgbClr val="226D5B"/>
                </a:solidFill>
                <a:latin typeface="Arial"/>
              </a:defRPr>
            </a:pPr>
            <a:r>
              <a:t>03</a:t>
            </a:r>
          </a:p>
        </p:txBody>
      </p:sp>
      <p:sp>
        <p:nvSpPr>
          <p:cNvPr id="19" name="TextBox 18"/>
          <p:cNvSpPr txBox="1"/>
          <p:nvPr/>
        </p:nvSpPr>
        <p:spPr>
          <a:xfrm>
            <a:off x="5422392" y="3035808"/>
            <a:ext cx="1819656"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Дәлелдер</a:t>
            </a:r>
          </a:p>
        </p:txBody>
      </p:sp>
      <p:sp>
        <p:nvSpPr>
          <p:cNvPr id="20" name="TextBox 19"/>
          <p:cNvSpPr txBox="1"/>
          <p:nvPr/>
        </p:nvSpPr>
        <p:spPr>
          <a:xfrm>
            <a:off x="5422392" y="3611880"/>
            <a:ext cx="1755648" cy="566928"/>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Белгілі</a:t>
            </a:r>
          </a:p>
          <a:p>
            <a:pPr>
              <a:spcBef>
                <a:spcPts val="0"/>
              </a:spcBef>
              <a:spcAft>
                <a:spcPts val="700"/>
              </a:spcAft>
              <a:defRPr sz="1400" b="0">
                <a:solidFill>
                  <a:srgbClr val="607575"/>
                </a:solidFill>
                <a:latin typeface="Arial"/>
              </a:defRPr>
            </a:pPr>
            <a:r>
              <a:t>fact_id тізімі</a:t>
            </a:r>
          </a:p>
        </p:txBody>
      </p:sp>
      <p:sp>
        <p:nvSpPr>
          <p:cNvPr id="21" name="TextBox 20"/>
          <p:cNvSpPr txBox="1"/>
          <p:nvPr/>
        </p:nvSpPr>
        <p:spPr>
          <a:xfrm>
            <a:off x="7388352" y="3136392"/>
            <a:ext cx="201168" cy="274320"/>
          </a:xfrm>
          <a:prstGeom prst="rect">
            <a:avLst/>
          </a:prstGeom>
          <a:noFill/>
        </p:spPr>
        <p:txBody>
          <a:bodyPr wrap="square" lIns="0" rIns="0" tIns="0" bIns="0">
            <a:spAutoFit/>
          </a:bodyPr>
          <a:lstStyle/>
          <a:p>
            <a:pPr>
              <a:spcBef>
                <a:spcPts val="0"/>
              </a:spcBef>
              <a:spcAft>
                <a:spcPts val="700"/>
              </a:spcAft>
              <a:defRPr sz="1600" b="1">
                <a:solidFill>
                  <a:srgbClr val="226D5B"/>
                </a:solidFill>
                <a:latin typeface="Arial"/>
              </a:defRPr>
            </a:pPr>
            <a:r>
              <a:t>→</a:t>
            </a:r>
          </a:p>
        </p:txBody>
      </p:sp>
      <p:sp>
        <p:nvSpPr>
          <p:cNvPr id="22" name="Rounded Rectangle 21"/>
          <p:cNvSpPr/>
          <p:nvPr/>
        </p:nvSpPr>
        <p:spPr>
          <a:xfrm>
            <a:off x="7607808" y="2441448"/>
            <a:ext cx="2084831" cy="1892807"/>
          </a:xfrm>
          <a:prstGeom prst="roundRect">
            <a:avLst>
              <a:gd name="adj" fmla="val 12000"/>
            </a:avLst>
          </a:prstGeom>
          <a:solidFill>
            <a:srgbClr val="226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81544" y="2633472"/>
            <a:ext cx="914400" cy="219456"/>
          </a:xfrm>
          <a:prstGeom prst="rect">
            <a:avLst/>
          </a:prstGeom>
          <a:noFill/>
        </p:spPr>
        <p:txBody>
          <a:bodyPr wrap="square" lIns="0" rIns="0" tIns="0" bIns="0">
            <a:spAutoFit/>
          </a:bodyPr>
          <a:lstStyle/>
          <a:p>
            <a:pPr>
              <a:spcBef>
                <a:spcPts val="0"/>
              </a:spcBef>
              <a:spcAft>
                <a:spcPts val="700"/>
              </a:spcAft>
              <a:defRPr sz="1100" b="1">
                <a:solidFill>
                  <a:srgbClr val="D4F4B9"/>
                </a:solidFill>
                <a:latin typeface="Arial"/>
              </a:defRPr>
            </a:pPr>
            <a:r>
              <a:t>04</a:t>
            </a:r>
          </a:p>
        </p:txBody>
      </p:sp>
      <p:sp>
        <p:nvSpPr>
          <p:cNvPr id="24" name="TextBox 23"/>
          <p:cNvSpPr txBox="1"/>
          <p:nvPr/>
        </p:nvSpPr>
        <p:spPr>
          <a:xfrm>
            <a:off x="7781544" y="3035808"/>
            <a:ext cx="1819656" cy="365760"/>
          </a:xfrm>
          <a:prstGeom prst="rect">
            <a:avLst/>
          </a:prstGeom>
          <a:noFill/>
        </p:spPr>
        <p:txBody>
          <a:bodyPr wrap="square" lIns="0" rIns="0" tIns="0" bIns="0">
            <a:spAutoFit/>
          </a:bodyPr>
          <a:lstStyle/>
          <a:p>
            <a:pPr>
              <a:spcBef>
                <a:spcPts val="0"/>
              </a:spcBef>
              <a:spcAft>
                <a:spcPts val="700"/>
              </a:spcAft>
              <a:defRPr sz="2100" b="1">
                <a:solidFill>
                  <a:srgbClr val="FFFFFF"/>
                </a:solidFill>
                <a:latin typeface="Arial"/>
              </a:defRPr>
            </a:pPr>
            <a:r>
              <a:t>LLM</a:t>
            </a:r>
          </a:p>
        </p:txBody>
      </p:sp>
      <p:sp>
        <p:nvSpPr>
          <p:cNvPr id="25" name="TextBox 24"/>
          <p:cNvSpPr txBox="1"/>
          <p:nvPr/>
        </p:nvSpPr>
        <p:spPr>
          <a:xfrm>
            <a:off x="7781544" y="3611880"/>
            <a:ext cx="1755648" cy="566928"/>
          </a:xfrm>
          <a:prstGeom prst="rect">
            <a:avLst/>
          </a:prstGeom>
          <a:noFill/>
        </p:spPr>
        <p:txBody>
          <a:bodyPr wrap="square" lIns="0" rIns="0" tIns="0" bIns="0">
            <a:spAutoFit/>
          </a:bodyPr>
          <a:lstStyle/>
          <a:p>
            <a:pPr>
              <a:spcBef>
                <a:spcPts val="0"/>
              </a:spcBef>
              <a:spcAft>
                <a:spcPts val="700"/>
              </a:spcAft>
              <a:defRPr sz="1400" b="0">
                <a:solidFill>
                  <a:srgbClr val="FFFFFF"/>
                </a:solidFill>
                <a:latin typeface="Arial"/>
              </a:defRPr>
            </a:pPr>
            <a:r>
              <a:t>Сұраққа қатысты</a:t>
            </a:r>
          </a:p>
          <a:p>
            <a:pPr>
              <a:spcBef>
                <a:spcPts val="0"/>
              </a:spcBef>
              <a:spcAft>
                <a:spcPts val="700"/>
              </a:spcAft>
              <a:defRPr sz="1400" b="0">
                <a:solidFill>
                  <a:srgbClr val="FFFFFF"/>
                </a:solidFill>
                <a:latin typeface="Arial"/>
              </a:defRPr>
            </a:pPr>
            <a:r>
              <a:t>ID таңдау</a:t>
            </a:r>
          </a:p>
        </p:txBody>
      </p:sp>
      <p:sp>
        <p:nvSpPr>
          <p:cNvPr id="26" name="TextBox 25"/>
          <p:cNvSpPr txBox="1"/>
          <p:nvPr/>
        </p:nvSpPr>
        <p:spPr>
          <a:xfrm>
            <a:off x="9747504" y="3136392"/>
            <a:ext cx="201168" cy="274320"/>
          </a:xfrm>
          <a:prstGeom prst="rect">
            <a:avLst/>
          </a:prstGeom>
          <a:noFill/>
        </p:spPr>
        <p:txBody>
          <a:bodyPr wrap="square" lIns="0" rIns="0" tIns="0" bIns="0">
            <a:spAutoFit/>
          </a:bodyPr>
          <a:lstStyle/>
          <a:p>
            <a:pPr>
              <a:spcBef>
                <a:spcPts val="0"/>
              </a:spcBef>
              <a:spcAft>
                <a:spcPts val="700"/>
              </a:spcAft>
              <a:defRPr sz="1600" b="1">
                <a:solidFill>
                  <a:srgbClr val="226D5B"/>
                </a:solidFill>
                <a:latin typeface="Arial"/>
              </a:defRPr>
            </a:pPr>
            <a:r>
              <a:t>→</a:t>
            </a:r>
          </a:p>
        </p:txBody>
      </p:sp>
      <p:sp>
        <p:nvSpPr>
          <p:cNvPr id="27" name="Rounded Rectangle 26"/>
          <p:cNvSpPr/>
          <p:nvPr/>
        </p:nvSpPr>
        <p:spPr>
          <a:xfrm>
            <a:off x="9966960" y="2441448"/>
            <a:ext cx="2084831" cy="1892807"/>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0696" y="2633472"/>
            <a:ext cx="914400" cy="219456"/>
          </a:xfrm>
          <a:prstGeom prst="rect">
            <a:avLst/>
          </a:prstGeom>
          <a:noFill/>
        </p:spPr>
        <p:txBody>
          <a:bodyPr wrap="square" lIns="0" rIns="0" tIns="0" bIns="0">
            <a:spAutoFit/>
          </a:bodyPr>
          <a:lstStyle/>
          <a:p>
            <a:pPr>
              <a:spcBef>
                <a:spcPts val="0"/>
              </a:spcBef>
              <a:spcAft>
                <a:spcPts val="700"/>
              </a:spcAft>
              <a:defRPr sz="1100" b="1">
                <a:solidFill>
                  <a:srgbClr val="226D5B"/>
                </a:solidFill>
                <a:latin typeface="Arial"/>
              </a:defRPr>
            </a:pPr>
            <a:r>
              <a:t>05</a:t>
            </a:r>
          </a:p>
        </p:txBody>
      </p:sp>
      <p:sp>
        <p:nvSpPr>
          <p:cNvPr id="29" name="TextBox 28"/>
          <p:cNvSpPr txBox="1"/>
          <p:nvPr/>
        </p:nvSpPr>
        <p:spPr>
          <a:xfrm>
            <a:off x="10140696" y="3035808"/>
            <a:ext cx="1819656"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Тексеру</a:t>
            </a:r>
          </a:p>
        </p:txBody>
      </p:sp>
      <p:sp>
        <p:nvSpPr>
          <p:cNvPr id="30" name="TextBox 29"/>
          <p:cNvSpPr txBox="1"/>
          <p:nvPr/>
        </p:nvSpPr>
        <p:spPr>
          <a:xfrm>
            <a:off x="10140696" y="3611880"/>
            <a:ext cx="1755648" cy="566928"/>
          </a:xfrm>
          <a:prstGeom prst="rect">
            <a:avLst/>
          </a:prstGeom>
          <a:noFill/>
        </p:spPr>
        <p:txBody>
          <a:bodyPr wrap="square" lIns="0" rIns="0" tIns="0" bIns="0">
            <a:spAutoFit/>
          </a:bodyPr>
          <a:lstStyle/>
          <a:p>
            <a:pPr>
              <a:spcBef>
                <a:spcPts val="0"/>
              </a:spcBef>
              <a:spcAft>
                <a:spcPts val="700"/>
              </a:spcAft>
              <a:defRPr sz="1400" b="0">
                <a:solidFill>
                  <a:srgbClr val="607575"/>
                </a:solidFill>
                <a:latin typeface="Arial"/>
              </a:defRPr>
            </a:pPr>
            <a:r>
              <a:t>ID → дайын</a:t>
            </a:r>
          </a:p>
          <a:p>
            <a:pPr>
              <a:spcBef>
                <a:spcPts val="0"/>
              </a:spcBef>
              <a:spcAft>
                <a:spcPts val="700"/>
              </a:spcAft>
              <a:defRPr sz="1400" b="0">
                <a:solidFill>
                  <a:srgbClr val="607575"/>
                </a:solidFill>
                <a:latin typeface="Arial"/>
              </a:defRPr>
            </a:pPr>
            <a:r>
              <a:t>факті сөйлемі</a:t>
            </a:r>
          </a:p>
        </p:txBody>
      </p:sp>
      <p:sp>
        <p:nvSpPr>
          <p:cNvPr id="31" name="Rounded Rectangle 30"/>
          <p:cNvSpPr/>
          <p:nvPr/>
        </p:nvSpPr>
        <p:spPr>
          <a:xfrm>
            <a:off x="548640" y="4709160"/>
            <a:ext cx="11064240" cy="1143000"/>
          </a:xfrm>
          <a:prstGeom prst="roundRect">
            <a:avLst>
              <a:gd name="adj" fmla="val 12000"/>
            </a:avLst>
          </a:prstGeom>
          <a:solidFill>
            <a:srgbClr val="D4F4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4937760"/>
            <a:ext cx="10515600" cy="292608"/>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Белгісіз ID қабылданбайды. Кілтсіз режим LLM деп көрсетілмейді.</a:t>
            </a:r>
          </a:p>
        </p:txBody>
      </p:sp>
      <p:sp>
        <p:nvSpPr>
          <p:cNvPr id="33" name="TextBox 32"/>
          <p:cNvSpPr txBox="1"/>
          <p:nvPr/>
        </p:nvSpPr>
        <p:spPr>
          <a:xfrm>
            <a:off x="804672" y="5458968"/>
            <a:ext cx="10515600" cy="228600"/>
          </a:xfrm>
          <a:prstGeom prst="rect">
            <a:avLst/>
          </a:prstGeom>
          <a:noFill/>
        </p:spPr>
        <p:txBody>
          <a:bodyPr wrap="square" lIns="0" rIns="0" tIns="0" bIns="0">
            <a:spAutoFit/>
          </a:bodyPr>
          <a:lstStyle/>
          <a:p>
            <a:pPr>
              <a:spcBef>
                <a:spcPts val="0"/>
              </a:spcBef>
              <a:spcAft>
                <a:spcPts val="700"/>
              </a:spcAft>
              <a:defRPr sz="1300" b="0">
                <a:solidFill>
                  <a:srgbClr val="226D5B"/>
                </a:solidFill>
                <a:latin typeface="Arial"/>
              </a:defRPr>
            </a:pPr>
            <a:r>
              <a:t>Дәлелдердің орынды және толық таңдалуын адам тексереді. Семантикалық мінсіздікке кепіл жоқ.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Әр ұяшықтың толық есеп жолы бар.</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Нақты мысал: M7 шарасы, Нұра ауданы, S1 көрсеткіші.</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Дерек: Датасет районов.docx, §2–3. Формула мен мысал — синтетикалық модельдің арифметикасы.</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05</a:t>
            </a:r>
          </a:p>
        </p:txBody>
      </p:sp>
      <p:sp>
        <p:nvSpPr>
          <p:cNvPr id="7" name="Rounded Rectangle 6"/>
          <p:cNvSpPr/>
          <p:nvPr/>
        </p:nvSpPr>
        <p:spPr>
          <a:xfrm>
            <a:off x="530352" y="2240280"/>
            <a:ext cx="5065776" cy="4005072"/>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ce_preview.png"/>
          <p:cNvPicPr>
            <a:picLocks noChangeAspect="1"/>
          </p:cNvPicPr>
          <p:nvPr/>
        </p:nvPicPr>
        <p:blipFill>
          <a:blip r:embed="rId2"/>
          <a:stretch>
            <a:fillRect/>
          </a:stretch>
        </p:blipFill>
        <p:spPr>
          <a:xfrm>
            <a:off x="1157151" y="2359152"/>
            <a:ext cx="3812177" cy="3767328"/>
          </a:xfrm>
          <a:prstGeom prst="rect">
            <a:avLst/>
          </a:prstGeom>
        </p:spPr>
      </p:pic>
      <p:sp>
        <p:nvSpPr>
          <p:cNvPr id="9" name="TextBox 8"/>
          <p:cNvSpPr txBox="1"/>
          <p:nvPr/>
        </p:nvSpPr>
        <p:spPr>
          <a:xfrm>
            <a:off x="6117336" y="2487168"/>
            <a:ext cx="5413248" cy="384048"/>
          </a:xfrm>
          <a:prstGeom prst="rect">
            <a:avLst/>
          </a:prstGeom>
          <a:noFill/>
        </p:spPr>
        <p:txBody>
          <a:bodyPr wrap="square" lIns="0" rIns="0" tIns="0" bIns="0">
            <a:spAutoFit/>
          </a:bodyPr>
          <a:lstStyle/>
          <a:p>
            <a:pPr>
              <a:spcBef>
                <a:spcPts val="0"/>
              </a:spcBef>
              <a:spcAft>
                <a:spcPts val="700"/>
              </a:spcAft>
              <a:defRPr sz="2200" b="1">
                <a:solidFill>
                  <a:srgbClr val="173C3E"/>
                </a:solidFill>
                <a:latin typeface="Arial"/>
              </a:defRPr>
            </a:pPr>
            <a:r>
              <a:t>Толық әсер × іске асқан үлес</a:t>
            </a:r>
          </a:p>
        </p:txBody>
      </p:sp>
      <p:sp>
        <p:nvSpPr>
          <p:cNvPr id="10" name="Rounded Rectangle 9"/>
          <p:cNvSpPr/>
          <p:nvPr/>
        </p:nvSpPr>
        <p:spPr>
          <a:xfrm>
            <a:off x="6089904" y="3136392"/>
            <a:ext cx="5522976" cy="1024128"/>
          </a:xfrm>
          <a:prstGeom prst="roundRect">
            <a:avLst>
              <a:gd name="adj" fmla="val 12000"/>
            </a:avLst>
          </a:prstGeom>
          <a:solidFill>
            <a:srgbClr val="143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3447288"/>
            <a:ext cx="4937760" cy="393192"/>
          </a:xfrm>
          <a:prstGeom prst="rect">
            <a:avLst/>
          </a:prstGeom>
          <a:noFill/>
        </p:spPr>
        <p:txBody>
          <a:bodyPr wrap="square" lIns="0" rIns="0" tIns="0" bIns="0">
            <a:spAutoFit/>
          </a:bodyPr>
          <a:lstStyle/>
          <a:p>
            <a:pPr>
              <a:spcBef>
                <a:spcPts val="0"/>
              </a:spcBef>
              <a:spcAft>
                <a:spcPts val="700"/>
              </a:spcAft>
              <a:defRPr sz="2600" b="1">
                <a:solidFill>
                  <a:srgbClr val="D4F4B9"/>
                </a:solidFill>
                <a:latin typeface="Arial"/>
              </a:defRPr>
            </a:pPr>
            <a:r>
              <a:t>16 × (8 − 3) / 8 = 10</a:t>
            </a:r>
          </a:p>
        </p:txBody>
      </p:sp>
      <p:sp>
        <p:nvSpPr>
          <p:cNvPr id="12" name="TextBox 11"/>
          <p:cNvSpPr txBox="1"/>
          <p:nvPr/>
        </p:nvSpPr>
        <p:spPr>
          <a:xfrm>
            <a:off x="6144768" y="4517136"/>
            <a:ext cx="5120640" cy="859536"/>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Бастапқы мән → шаралар → синергия</a:t>
            </a:r>
          </a:p>
          <a:p>
            <a:pPr>
              <a:spcBef>
                <a:spcPts val="0"/>
              </a:spcBef>
              <a:spcAft>
                <a:spcPts val="700"/>
              </a:spcAft>
              <a:defRPr sz="2100" b="1">
                <a:solidFill>
                  <a:srgbClr val="173C3E"/>
                </a:solidFill>
                <a:latin typeface="Arial"/>
              </a:defRPr>
            </a:pPr>
            <a:r>
              <a:t>→ шектеу → соңғы мән → салмақ</a:t>
            </a:r>
          </a:p>
        </p:txBody>
      </p:sp>
      <p:sp>
        <p:nvSpPr>
          <p:cNvPr id="13" name="TextBox 12"/>
          <p:cNvSpPr txBox="1"/>
          <p:nvPr/>
        </p:nvSpPr>
        <p:spPr>
          <a:xfrm>
            <a:off x="6144768" y="5641848"/>
            <a:ext cx="5175504" cy="475488"/>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Толық 50 ұяшықтың журналы</a:t>
            </a:r>
          </a:p>
          <a:p>
            <a:pPr>
              <a:spcBef>
                <a:spcPts val="0"/>
              </a:spcBef>
              <a:spcAft>
                <a:spcPts val="700"/>
              </a:spcAft>
              <a:defRPr sz="1600" b="0">
                <a:solidFill>
                  <a:srgbClr val="607575"/>
                </a:solidFill>
                <a:latin typeface="Arial"/>
              </a:defRPr>
            </a:pPr>
            <a:r>
              <a:t>JSON және CSV ішінде сақталады.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Жорамал мен ресми есеп араласпайды.</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Мерзім тәжірибесі, сценарий айырмасы және қайта есептелетін паспорт — бір жұмыс жолында.</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Синтетикалық модель. Нақты қалаға болжам немесе басқару ұсынысы емес.</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06</a:t>
            </a:r>
          </a:p>
        </p:txBody>
      </p:sp>
      <p:sp>
        <p:nvSpPr>
          <p:cNvPr id="7" name="Rounded Rectangle 6"/>
          <p:cNvSpPr/>
          <p:nvPr/>
        </p:nvSpPr>
        <p:spPr>
          <a:xfrm>
            <a:off x="512064" y="2240280"/>
            <a:ext cx="6629400" cy="4023360"/>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_preview.png"/>
          <p:cNvPicPr>
            <a:picLocks noChangeAspect="1"/>
          </p:cNvPicPr>
          <p:nvPr/>
        </p:nvPicPr>
        <p:blipFill>
          <a:blip r:embed="rId2"/>
          <a:stretch>
            <a:fillRect/>
          </a:stretch>
        </p:blipFill>
        <p:spPr>
          <a:xfrm>
            <a:off x="905339" y="2350008"/>
            <a:ext cx="5842848" cy="3794760"/>
          </a:xfrm>
          <a:prstGeom prst="rect">
            <a:avLst/>
          </a:prstGeom>
        </p:spPr>
      </p:pic>
      <p:sp>
        <p:nvSpPr>
          <p:cNvPr id="9" name="TextBox 8"/>
          <p:cNvSpPr txBox="1"/>
          <p:nvPr/>
        </p:nvSpPr>
        <p:spPr>
          <a:xfrm>
            <a:off x="7525512" y="2414016"/>
            <a:ext cx="4023360" cy="356616"/>
          </a:xfrm>
          <a:prstGeom prst="rect">
            <a:avLst/>
          </a:prstGeom>
          <a:noFill/>
        </p:spPr>
        <p:txBody>
          <a:bodyPr wrap="square" lIns="0" rIns="0" tIns="0" bIns="0">
            <a:spAutoFit/>
          </a:bodyPr>
          <a:lstStyle/>
          <a:p>
            <a:pPr>
              <a:spcBef>
                <a:spcPts val="0"/>
              </a:spcBef>
              <a:spcAft>
                <a:spcPts val="700"/>
              </a:spcAft>
              <a:defRPr sz="2100" b="1">
                <a:solidFill>
                  <a:srgbClr val="226D5B"/>
                </a:solidFill>
                <a:latin typeface="Arial"/>
              </a:defRPr>
            </a:pPr>
            <a:r>
              <a:t>Мерзім зертханасы</a:t>
            </a:r>
          </a:p>
        </p:txBody>
      </p:sp>
      <p:sp>
        <p:nvSpPr>
          <p:cNvPr id="10" name="TextBox 9"/>
          <p:cNvSpPr txBox="1"/>
          <p:nvPr/>
        </p:nvSpPr>
        <p:spPr>
          <a:xfrm>
            <a:off x="7525512" y="2889504"/>
            <a:ext cx="3931920" cy="612648"/>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Бір лагқа 0–3 тоқсан қосу.</a:t>
            </a:r>
          </a:p>
          <a:p>
            <a:pPr>
              <a:spcBef>
                <a:spcPts val="0"/>
              </a:spcBef>
              <a:spcAft>
                <a:spcPts val="700"/>
              </a:spcAft>
              <a:defRPr sz="1600" b="0">
                <a:solidFill>
                  <a:srgbClr val="607575"/>
                </a:solidFill>
                <a:latin typeface="Arial"/>
              </a:defRPr>
            </a:pPr>
            <a:r>
              <a:t>Ресми есеп өзгермейді.</a:t>
            </a:r>
          </a:p>
        </p:txBody>
      </p:sp>
      <p:sp>
        <p:nvSpPr>
          <p:cNvPr id="11" name="TextBox 10"/>
          <p:cNvSpPr txBox="1"/>
          <p:nvPr/>
        </p:nvSpPr>
        <p:spPr>
          <a:xfrm>
            <a:off x="7525512" y="3703320"/>
            <a:ext cx="4023360" cy="356616"/>
          </a:xfrm>
          <a:prstGeom prst="rect">
            <a:avLst/>
          </a:prstGeom>
          <a:noFill/>
        </p:spPr>
        <p:txBody>
          <a:bodyPr wrap="square" lIns="0" rIns="0" tIns="0" bIns="0">
            <a:spAutoFit/>
          </a:bodyPr>
          <a:lstStyle/>
          <a:p>
            <a:pPr>
              <a:spcBef>
                <a:spcPts val="0"/>
              </a:spcBef>
              <a:spcAft>
                <a:spcPts val="700"/>
              </a:spcAft>
              <a:defRPr sz="2100" b="1">
                <a:solidFill>
                  <a:srgbClr val="226D5B"/>
                </a:solidFill>
                <a:latin typeface="Arial"/>
              </a:defRPr>
            </a:pPr>
            <a:r>
              <a:t>A/B салыстыру</a:t>
            </a:r>
          </a:p>
        </p:txBody>
      </p:sp>
      <p:sp>
        <p:nvSpPr>
          <p:cNvPr id="12" name="TextBox 11"/>
          <p:cNvSpPr txBox="1"/>
          <p:nvPr/>
        </p:nvSpPr>
        <p:spPr>
          <a:xfrm>
            <a:off x="7525512" y="4178808"/>
            <a:ext cx="3931920" cy="612648"/>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B−A айырмалары көрсетіледі.</a:t>
            </a:r>
          </a:p>
          <a:p>
            <a:pPr>
              <a:spcBef>
                <a:spcPts val="0"/>
              </a:spcBef>
              <a:spcAft>
                <a:spcPts val="700"/>
              </a:spcAft>
              <a:defRPr sz="1600" b="0">
                <a:solidFill>
                  <a:srgbClr val="607575"/>
                </a:solidFill>
                <a:latin typeface="Arial"/>
              </a:defRPr>
            </a:pPr>
            <a:r>
              <a:t>Қайсын таңдау керегі айтылмайды.</a:t>
            </a:r>
          </a:p>
        </p:txBody>
      </p:sp>
      <p:sp>
        <p:nvSpPr>
          <p:cNvPr id="13" name="TextBox 12"/>
          <p:cNvSpPr txBox="1"/>
          <p:nvPr/>
        </p:nvSpPr>
        <p:spPr>
          <a:xfrm>
            <a:off x="7525512" y="5029200"/>
            <a:ext cx="4023360" cy="356616"/>
          </a:xfrm>
          <a:prstGeom prst="rect">
            <a:avLst/>
          </a:prstGeom>
          <a:noFill/>
        </p:spPr>
        <p:txBody>
          <a:bodyPr wrap="square" lIns="0" rIns="0" tIns="0" bIns="0">
            <a:spAutoFit/>
          </a:bodyPr>
          <a:lstStyle/>
          <a:p>
            <a:pPr>
              <a:spcBef>
                <a:spcPts val="0"/>
              </a:spcBef>
              <a:spcAft>
                <a:spcPts val="700"/>
              </a:spcAft>
              <a:defRPr sz="2100" b="1">
                <a:solidFill>
                  <a:srgbClr val="226D5B"/>
                </a:solidFill>
                <a:latin typeface="Arial"/>
              </a:defRPr>
            </a:pPr>
            <a:r>
              <a:t>Есептеу паспорты</a:t>
            </a:r>
          </a:p>
        </p:txBody>
      </p:sp>
      <p:sp>
        <p:nvSpPr>
          <p:cNvPr id="14" name="TextBox 13"/>
          <p:cNvSpPr txBox="1"/>
          <p:nvPr/>
        </p:nvSpPr>
        <p:spPr>
          <a:xfrm>
            <a:off x="7525512" y="5504688"/>
            <a:ext cx="3931920" cy="612648"/>
          </a:xfrm>
          <a:prstGeom prst="rect">
            <a:avLst/>
          </a:prstGeom>
          <a:noFill/>
        </p:spPr>
        <p:txBody>
          <a:bodyPr wrap="square" lIns="0" rIns="0" tIns="0" bIns="0">
            <a:spAutoFit/>
          </a:bodyPr>
          <a:lstStyle/>
          <a:p>
            <a:pPr>
              <a:spcBef>
                <a:spcPts val="0"/>
              </a:spcBef>
              <a:spcAft>
                <a:spcPts val="700"/>
              </a:spcAft>
              <a:defRPr sz="1600" b="0">
                <a:solidFill>
                  <a:srgbClr val="607575"/>
                </a:solidFill>
                <a:latin typeface="Arial"/>
              </a:defRPr>
            </a:pPr>
            <a:r>
              <a:t>Кіріс + дерек + код fingerprint-і.</a:t>
            </a:r>
          </a:p>
          <a:p>
            <a:pPr>
              <a:spcBef>
                <a:spcPts val="0"/>
              </a:spcBef>
              <a:spcAft>
                <a:spcPts val="700"/>
              </a:spcAft>
              <a:defRPr sz="1600" b="0">
                <a:solidFill>
                  <a:srgbClr val="607575"/>
                </a:solidFill>
                <a:latin typeface="Arial"/>
              </a:defRPr>
            </a:pPr>
            <a:r>
              <a:t>Импортта нәтиже қайта есептеледі.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2"/>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226D5B"/>
                </a:solidFill>
                <a:latin typeface="Arial"/>
              </a:defRPr>
            </a:pPr>
            <a:r>
              <a:t>QALA LAB  /  HACKALEM</a:t>
            </a:r>
          </a:p>
        </p:txBody>
      </p:sp>
      <p:sp>
        <p:nvSpPr>
          <p:cNvPr id="3" name="TextBox 2"/>
          <p:cNvSpPr txBox="1"/>
          <p:nvPr/>
        </p:nvSpPr>
        <p:spPr>
          <a:xfrm>
            <a:off x="502920" y="758952"/>
            <a:ext cx="11155680" cy="640080"/>
          </a:xfrm>
          <a:prstGeom prst="rect">
            <a:avLst/>
          </a:prstGeom>
          <a:noFill/>
        </p:spPr>
        <p:txBody>
          <a:bodyPr wrap="square" lIns="0" rIns="0" tIns="0" bIns="0">
            <a:spAutoFit/>
          </a:bodyPr>
          <a:lstStyle/>
          <a:p>
            <a:pPr>
              <a:spcBef>
                <a:spcPts val="0"/>
              </a:spcBef>
              <a:spcAft>
                <a:spcPts val="700"/>
              </a:spcAft>
              <a:defRPr sz="3100" b="1">
                <a:solidFill>
                  <a:srgbClr val="173C3E"/>
                </a:solidFill>
                <a:latin typeface="Arial"/>
              </a:defRPr>
            </a:pPr>
            <a:r>
              <a:t>Тексеру сөзімен емес, орындалуымен.</a:t>
            </a:r>
          </a:p>
        </p:txBody>
      </p:sp>
      <p:sp>
        <p:nvSpPr>
          <p:cNvPr id="4" name="TextBox 3"/>
          <p:cNvSpPr txBox="1"/>
          <p:nvPr/>
        </p:nvSpPr>
        <p:spPr>
          <a:xfrm>
            <a:off x="512064" y="1472184"/>
            <a:ext cx="11064240" cy="621792"/>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Төмендегі нәтижелер осы прототиптің нақты жергілікті тексеруінен алынған.</a:t>
            </a:r>
          </a:p>
        </p:txBody>
      </p:sp>
      <p:sp>
        <p:nvSpPr>
          <p:cNvPr id="5" name="TextBox 4"/>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607575"/>
                </a:solidFill>
                <a:latin typeface="Arial"/>
              </a:defRPr>
            </a:pPr>
            <a:r>
              <a:t>Дәлелдер: docs/TEST_REPORT.md, TEST_LOG.txt, ui_report.json. Нақты орындалған орта: Linux / Python 3.13.5.</a:t>
            </a:r>
          </a:p>
        </p:txBody>
      </p:sp>
      <p:sp>
        <p:nvSpPr>
          <p:cNvPr id="6" name="TextBox 5"/>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226D5B"/>
                </a:solidFill>
                <a:latin typeface="Arial"/>
              </a:defRPr>
            </a:pPr>
            <a:r>
              <a:t>07</a:t>
            </a:r>
          </a:p>
        </p:txBody>
      </p:sp>
      <p:sp>
        <p:nvSpPr>
          <p:cNvPr id="7" name="Rounded Rectangle 6"/>
          <p:cNvSpPr/>
          <p:nvPr/>
        </p:nvSpPr>
        <p:spPr>
          <a:xfrm>
            <a:off x="539496" y="2414016"/>
            <a:ext cx="3355848" cy="2386584"/>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24328"/>
            <a:ext cx="2834640" cy="731520"/>
          </a:xfrm>
          <a:prstGeom prst="rect">
            <a:avLst/>
          </a:prstGeom>
          <a:noFill/>
        </p:spPr>
        <p:txBody>
          <a:bodyPr wrap="square" lIns="0" rIns="0" tIns="0" bIns="0">
            <a:spAutoFit/>
          </a:bodyPr>
          <a:lstStyle/>
          <a:p>
            <a:pPr>
              <a:spcBef>
                <a:spcPts val="0"/>
              </a:spcBef>
              <a:spcAft>
                <a:spcPts val="700"/>
              </a:spcAft>
              <a:defRPr sz="4800" b="1">
                <a:solidFill>
                  <a:srgbClr val="226D5B"/>
                </a:solidFill>
                <a:latin typeface="Arial"/>
              </a:defRPr>
            </a:pPr>
            <a:r>
              <a:t>105</a:t>
            </a:r>
          </a:p>
        </p:txBody>
      </p:sp>
      <p:sp>
        <p:nvSpPr>
          <p:cNvPr id="9" name="TextBox 8"/>
          <p:cNvSpPr txBox="1"/>
          <p:nvPr/>
        </p:nvSpPr>
        <p:spPr>
          <a:xfrm>
            <a:off x="786384" y="3575304"/>
            <a:ext cx="2852928"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unittest әдісі</a:t>
            </a:r>
          </a:p>
        </p:txBody>
      </p:sp>
      <p:sp>
        <p:nvSpPr>
          <p:cNvPr id="10" name="TextBox 9"/>
          <p:cNvSpPr txBox="1"/>
          <p:nvPr/>
        </p:nvSpPr>
        <p:spPr>
          <a:xfrm>
            <a:off x="786384" y="4160520"/>
            <a:ext cx="2862072" cy="493776"/>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Модель, дереккөз,</a:t>
            </a:r>
          </a:p>
          <a:p>
            <a:pPr>
              <a:spcBef>
                <a:spcPts val="0"/>
              </a:spcBef>
              <a:spcAft>
                <a:spcPts val="700"/>
              </a:spcAft>
              <a:defRPr sz="1500" b="0">
                <a:solidFill>
                  <a:srgbClr val="607575"/>
                </a:solidFill>
                <a:latin typeface="Arial"/>
              </a:defRPr>
            </a:pPr>
            <a:r>
              <a:t>AI келісімшарты, HTTP.</a:t>
            </a:r>
          </a:p>
        </p:txBody>
      </p:sp>
      <p:sp>
        <p:nvSpPr>
          <p:cNvPr id="11" name="Rounded Rectangle 10"/>
          <p:cNvSpPr/>
          <p:nvPr/>
        </p:nvSpPr>
        <p:spPr>
          <a:xfrm>
            <a:off x="4434840" y="2414016"/>
            <a:ext cx="3355848" cy="2386584"/>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2583" y="2624328"/>
            <a:ext cx="2834640" cy="731520"/>
          </a:xfrm>
          <a:prstGeom prst="rect">
            <a:avLst/>
          </a:prstGeom>
          <a:noFill/>
        </p:spPr>
        <p:txBody>
          <a:bodyPr wrap="square" lIns="0" rIns="0" tIns="0" bIns="0">
            <a:spAutoFit/>
          </a:bodyPr>
          <a:lstStyle/>
          <a:p>
            <a:pPr>
              <a:spcBef>
                <a:spcPts val="0"/>
              </a:spcBef>
              <a:spcAft>
                <a:spcPts val="700"/>
              </a:spcAft>
              <a:defRPr sz="4800" b="1">
                <a:solidFill>
                  <a:srgbClr val="226D5B"/>
                </a:solidFill>
                <a:latin typeface="Arial"/>
              </a:defRPr>
            </a:pPr>
            <a:r>
              <a:t>1000</a:t>
            </a:r>
          </a:p>
        </p:txBody>
      </p:sp>
      <p:sp>
        <p:nvSpPr>
          <p:cNvPr id="13" name="TextBox 12"/>
          <p:cNvSpPr txBox="1"/>
          <p:nvPr/>
        </p:nvSpPr>
        <p:spPr>
          <a:xfrm>
            <a:off x="4681727" y="3575304"/>
            <a:ext cx="2852928"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жарамды сценарий</a:t>
            </a:r>
          </a:p>
        </p:txBody>
      </p:sp>
      <p:sp>
        <p:nvSpPr>
          <p:cNvPr id="14" name="TextBox 13"/>
          <p:cNvSpPr txBox="1"/>
          <p:nvPr/>
        </p:nvSpPr>
        <p:spPr>
          <a:xfrm>
            <a:off x="4681727" y="4160520"/>
            <a:ext cx="2862072" cy="493776"/>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Тәуелсіз есеп нұсқасымен</a:t>
            </a:r>
          </a:p>
          <a:p>
            <a:pPr>
              <a:spcBef>
                <a:spcPts val="0"/>
              </a:spcBef>
              <a:spcAft>
                <a:spcPts val="700"/>
              </a:spcAft>
              <a:defRPr sz="1500" b="0">
                <a:solidFill>
                  <a:srgbClr val="607575"/>
                </a:solidFill>
                <a:latin typeface="Arial"/>
              </a:defRPr>
            </a:pPr>
            <a:r>
              <a:t>сандық салыстыру.</a:t>
            </a:r>
          </a:p>
        </p:txBody>
      </p:sp>
      <p:sp>
        <p:nvSpPr>
          <p:cNvPr id="15" name="Rounded Rectangle 14"/>
          <p:cNvSpPr/>
          <p:nvPr/>
        </p:nvSpPr>
        <p:spPr>
          <a:xfrm>
            <a:off x="8321040" y="2414016"/>
            <a:ext cx="3355848" cy="2386584"/>
          </a:xfrm>
          <a:prstGeom prst="roundRect">
            <a:avLst>
              <a:gd name="adj" fmla="val 12000"/>
            </a:avLst>
          </a:prstGeom>
          <a:solidFill>
            <a:srgbClr val="FFFFFF"/>
          </a:solidFill>
          <a:ln w="8890">
            <a:solidFill>
              <a:srgbClr val="DCE5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58784" y="2624328"/>
            <a:ext cx="2834640" cy="731520"/>
          </a:xfrm>
          <a:prstGeom prst="rect">
            <a:avLst/>
          </a:prstGeom>
          <a:noFill/>
        </p:spPr>
        <p:txBody>
          <a:bodyPr wrap="square" lIns="0" rIns="0" tIns="0" bIns="0">
            <a:spAutoFit/>
          </a:bodyPr>
          <a:lstStyle/>
          <a:p>
            <a:pPr>
              <a:spcBef>
                <a:spcPts val="0"/>
              </a:spcBef>
              <a:spcAft>
                <a:spcPts val="700"/>
              </a:spcAft>
              <a:defRPr sz="4800" b="1">
                <a:solidFill>
                  <a:srgbClr val="226D5B"/>
                </a:solidFill>
                <a:latin typeface="Arial"/>
              </a:defRPr>
            </a:pPr>
            <a:r>
              <a:t>120</a:t>
            </a:r>
          </a:p>
        </p:txBody>
      </p:sp>
      <p:sp>
        <p:nvSpPr>
          <p:cNvPr id="17" name="TextBox 16"/>
          <p:cNvSpPr txBox="1"/>
          <p:nvPr/>
        </p:nvSpPr>
        <p:spPr>
          <a:xfrm>
            <a:off x="8567928" y="3575304"/>
            <a:ext cx="2852928" cy="365760"/>
          </a:xfrm>
          <a:prstGeom prst="rect">
            <a:avLst/>
          </a:prstGeom>
          <a:noFill/>
        </p:spPr>
        <p:txBody>
          <a:bodyPr wrap="square" lIns="0" rIns="0" tIns="0" bIns="0">
            <a:spAutoFit/>
          </a:bodyPr>
          <a:lstStyle/>
          <a:p>
            <a:pPr>
              <a:spcBef>
                <a:spcPts val="0"/>
              </a:spcBef>
              <a:spcAft>
                <a:spcPts val="700"/>
              </a:spcAft>
              <a:defRPr sz="2100" b="1">
                <a:solidFill>
                  <a:srgbClr val="173C3E"/>
                </a:solidFill>
                <a:latin typeface="Arial"/>
              </a:defRPr>
            </a:pPr>
            <a:r>
              <a:t>таңдау реті</a:t>
            </a:r>
          </a:p>
        </p:txBody>
      </p:sp>
      <p:sp>
        <p:nvSpPr>
          <p:cNvPr id="18" name="TextBox 17"/>
          <p:cNvSpPr txBox="1"/>
          <p:nvPr/>
        </p:nvSpPr>
        <p:spPr>
          <a:xfrm>
            <a:off x="8567928" y="4160520"/>
            <a:ext cx="2862072" cy="493776"/>
          </a:xfrm>
          <a:prstGeom prst="rect">
            <a:avLst/>
          </a:prstGeom>
          <a:noFill/>
        </p:spPr>
        <p:txBody>
          <a:bodyPr wrap="square" lIns="0" rIns="0" tIns="0" bIns="0">
            <a:spAutoFit/>
          </a:bodyPr>
          <a:lstStyle/>
          <a:p>
            <a:pPr>
              <a:spcBef>
                <a:spcPts val="0"/>
              </a:spcBef>
              <a:spcAft>
                <a:spcPts val="700"/>
              </a:spcAft>
              <a:defRPr sz="1500" b="0">
                <a:solidFill>
                  <a:srgbClr val="607575"/>
                </a:solidFill>
                <a:latin typeface="Arial"/>
              </a:defRPr>
            </a:pPr>
            <a:r>
              <a:t>Бір жиынтықтың әр реті</a:t>
            </a:r>
          </a:p>
          <a:p>
            <a:pPr>
              <a:spcBef>
                <a:spcPts val="0"/>
              </a:spcBef>
              <a:spcAft>
                <a:spcPts val="700"/>
              </a:spcAft>
              <a:defRPr sz="1500" b="0">
                <a:solidFill>
                  <a:srgbClr val="607575"/>
                </a:solidFill>
                <a:latin typeface="Arial"/>
              </a:defRPr>
            </a:pPr>
            <a:r>
              <a:t>бірдей нәтиже берді.</a:t>
            </a:r>
          </a:p>
        </p:txBody>
      </p:sp>
      <p:sp>
        <p:nvSpPr>
          <p:cNvPr id="19" name="TextBox 18"/>
          <p:cNvSpPr txBox="1"/>
          <p:nvPr/>
        </p:nvSpPr>
        <p:spPr>
          <a:xfrm>
            <a:off x="630936" y="5138928"/>
            <a:ext cx="11064240" cy="338328"/>
          </a:xfrm>
          <a:prstGeom prst="rect">
            <a:avLst/>
          </a:prstGeom>
          <a:noFill/>
        </p:spPr>
        <p:txBody>
          <a:bodyPr wrap="square" lIns="0" rIns="0" tIns="0" bIns="0">
            <a:spAutoFit/>
          </a:bodyPr>
          <a:lstStyle/>
          <a:p>
            <a:pPr>
              <a:spcBef>
                <a:spcPts val="0"/>
              </a:spcBef>
              <a:spcAft>
                <a:spcPts val="700"/>
              </a:spcAft>
              <a:defRPr sz="1800" b="1">
                <a:solidFill>
                  <a:srgbClr val="226D5B"/>
                </a:solidFill>
                <a:latin typeface="Arial"/>
              </a:defRPr>
            </a:pPr>
            <a:r>
              <a:t>15 UI тексеруі · 390 / 768 / 1280 / 1512 px · өңделмеген JS қатесі жоқ</a:t>
            </a:r>
          </a:p>
        </p:txBody>
      </p:sp>
      <p:sp>
        <p:nvSpPr>
          <p:cNvPr id="20" name="TextBox 19"/>
          <p:cNvSpPr txBox="1"/>
          <p:nvPr/>
        </p:nvSpPr>
        <p:spPr>
          <a:xfrm>
            <a:off x="640080" y="5705856"/>
            <a:ext cx="10917936" cy="530352"/>
          </a:xfrm>
          <a:prstGeom prst="rect">
            <a:avLst/>
          </a:prstGeom>
          <a:noFill/>
        </p:spPr>
        <p:txBody>
          <a:bodyPr wrap="square" lIns="0" rIns="0" tIns="0" bIns="0">
            <a:spAutoFit/>
          </a:bodyPr>
          <a:lstStyle/>
          <a:p>
            <a:pPr>
              <a:spcBef>
                <a:spcPts val="0"/>
              </a:spcBef>
              <a:spcAft>
                <a:spcPts val="700"/>
              </a:spcAft>
              <a:defRPr sz="1200" b="0">
                <a:solidFill>
                  <a:srgbClr val="607575"/>
                </a:solidFill>
                <a:latin typeface="Arial"/>
              </a:defRPr>
            </a:pPr>
            <a:r>
              <a:t>1000 сценарий мен 120 рет — 105 тесттің ішкі жағдайлары. UI жергілікті asset + API көпірімен тексерілді.</a:t>
            </a:r>
          </a:p>
          <a:p>
            <a:pPr>
              <a:spcBef>
                <a:spcPts val="0"/>
              </a:spcBef>
              <a:spcAft>
                <a:spcPts val="700"/>
              </a:spcAft>
              <a:defRPr sz="1200" b="0">
                <a:solidFill>
                  <a:srgbClr val="607575"/>
                </a:solidFill>
                <a:latin typeface="Arial"/>
              </a:defRPr>
            </a:pPr>
            <a:r>
              <a:t>Live LLM, Windows, Docker және жария deployment осы ортада тексерілмеді.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3437"/>
        </a:solidFill>
        <a:effectLst/>
      </p:bgPr>
    </p:bg>
    <p:spTree>
      <p:nvGrpSpPr>
        <p:cNvPr id="1" name=""/>
        <p:cNvGrpSpPr/>
        <p:nvPr/>
      </p:nvGrpSpPr>
      <p:grpSpPr/>
      <p:sp>
        <p:nvSpPr>
          <p:cNvPr id="2" name="TextBox 1"/>
          <p:cNvSpPr txBox="1"/>
          <p:nvPr/>
        </p:nvSpPr>
        <p:spPr>
          <a:xfrm>
            <a:off x="457200" y="228600"/>
            <a:ext cx="4572000" cy="228600"/>
          </a:xfrm>
          <a:prstGeom prst="rect">
            <a:avLst/>
          </a:prstGeom>
          <a:noFill/>
        </p:spPr>
        <p:txBody>
          <a:bodyPr wrap="square" lIns="0" rIns="0" tIns="0" bIns="0">
            <a:spAutoFit/>
          </a:bodyPr>
          <a:lstStyle/>
          <a:p>
            <a:pPr>
              <a:spcBef>
                <a:spcPts val="0"/>
              </a:spcBef>
              <a:spcAft>
                <a:spcPts val="700"/>
              </a:spcAft>
              <a:defRPr sz="1000" b="1">
                <a:solidFill>
                  <a:srgbClr val="D4F4B9"/>
                </a:solidFill>
                <a:latin typeface="Arial"/>
              </a:defRPr>
            </a:pPr>
            <a:r>
              <a:t>QALA LAB  /  HACKALEM</a:t>
            </a:r>
          </a:p>
        </p:txBody>
      </p:sp>
      <p:sp>
        <p:nvSpPr>
          <p:cNvPr id="3" name="TextBox 2"/>
          <p:cNvSpPr txBox="1"/>
          <p:nvPr/>
        </p:nvSpPr>
        <p:spPr>
          <a:xfrm>
            <a:off x="502920" y="6510528"/>
            <a:ext cx="10515600" cy="182880"/>
          </a:xfrm>
          <a:prstGeom prst="rect">
            <a:avLst/>
          </a:prstGeom>
          <a:noFill/>
        </p:spPr>
        <p:txBody>
          <a:bodyPr wrap="square" lIns="0" rIns="0" tIns="0" bIns="0">
            <a:spAutoFit/>
          </a:bodyPr>
          <a:lstStyle/>
          <a:p>
            <a:pPr>
              <a:spcBef>
                <a:spcPts val="0"/>
              </a:spcBef>
              <a:spcAft>
                <a:spcPts val="700"/>
              </a:spcAft>
              <a:defRPr sz="800" b="0">
                <a:solidFill>
                  <a:srgbClr val="AEC7BE"/>
                </a:solidFill>
                <a:latin typeface="Arial"/>
              </a:defRPr>
            </a:pPr>
            <a:r>
              <a:t>Синтетикалық модель. Нақты қалаға болжам немесе басқару ұсынысы емес.</a:t>
            </a:r>
          </a:p>
        </p:txBody>
      </p:sp>
      <p:sp>
        <p:nvSpPr>
          <p:cNvPr id="4" name="TextBox 3"/>
          <p:cNvSpPr txBox="1"/>
          <p:nvPr/>
        </p:nvSpPr>
        <p:spPr>
          <a:xfrm>
            <a:off x="11219688" y="6473952"/>
            <a:ext cx="457200" cy="219456"/>
          </a:xfrm>
          <a:prstGeom prst="rect">
            <a:avLst/>
          </a:prstGeom>
          <a:noFill/>
        </p:spPr>
        <p:txBody>
          <a:bodyPr wrap="square" lIns="0" rIns="0" tIns="0" bIns="0">
            <a:spAutoFit/>
          </a:bodyPr>
          <a:lstStyle/>
          <a:p>
            <a:pPr algn="r">
              <a:spcBef>
                <a:spcPts val="0"/>
              </a:spcBef>
              <a:spcAft>
                <a:spcPts val="700"/>
              </a:spcAft>
              <a:defRPr sz="1000" b="1">
                <a:solidFill>
                  <a:srgbClr val="D4F4B9"/>
                </a:solidFill>
                <a:latin typeface="Arial"/>
              </a:defRPr>
            </a:pPr>
            <a:r>
              <a:t>08</a:t>
            </a:r>
          </a:p>
        </p:txBody>
      </p:sp>
      <p:sp>
        <p:nvSpPr>
          <p:cNvPr id="5" name="TextBox 4"/>
          <p:cNvSpPr txBox="1"/>
          <p:nvPr/>
        </p:nvSpPr>
        <p:spPr>
          <a:xfrm>
            <a:off x="594360" y="960120"/>
            <a:ext cx="10698480" cy="1554480"/>
          </a:xfrm>
          <a:prstGeom prst="rect">
            <a:avLst/>
          </a:prstGeom>
          <a:noFill/>
        </p:spPr>
        <p:txBody>
          <a:bodyPr wrap="square" lIns="0" rIns="0" tIns="0" bIns="0">
            <a:spAutoFit/>
          </a:bodyPr>
          <a:lstStyle/>
          <a:p>
            <a:pPr>
              <a:spcBef>
                <a:spcPts val="0"/>
              </a:spcBef>
              <a:spcAft>
                <a:spcPts val="700"/>
              </a:spcAft>
              <a:defRPr sz="3500" b="1">
                <a:solidFill>
                  <a:srgbClr val="FFFFFF"/>
                </a:solidFill>
                <a:latin typeface="Arial"/>
              </a:defRPr>
            </a:pPr>
            <a:r>
              <a:t>Нәтижеге жай сенбеңіз.</a:t>
            </a:r>
          </a:p>
          <a:p>
            <a:pPr>
              <a:spcBef>
                <a:spcPts val="0"/>
              </a:spcBef>
              <a:spcAft>
                <a:spcPts val="700"/>
              </a:spcAft>
              <a:defRPr sz="3500" b="1">
                <a:solidFill>
                  <a:srgbClr val="FFFFFF"/>
                </a:solidFill>
                <a:latin typeface="Arial"/>
              </a:defRPr>
            </a:pPr>
            <a:r>
              <a:t>Оның қалай алынғанын тексеріңіз.</a:t>
            </a:r>
          </a:p>
        </p:txBody>
      </p:sp>
      <p:sp>
        <p:nvSpPr>
          <p:cNvPr id="6" name="TextBox 5"/>
          <p:cNvSpPr txBox="1"/>
          <p:nvPr/>
        </p:nvSpPr>
        <p:spPr>
          <a:xfrm>
            <a:off x="630936" y="2743200"/>
            <a:ext cx="10698480" cy="512064"/>
          </a:xfrm>
          <a:prstGeom prst="rect">
            <a:avLst/>
          </a:prstGeom>
          <a:noFill/>
        </p:spPr>
        <p:txBody>
          <a:bodyPr wrap="square" lIns="0" rIns="0" tIns="0" bIns="0">
            <a:spAutoFit/>
          </a:bodyPr>
          <a:lstStyle/>
          <a:p>
            <a:pPr>
              <a:spcBef>
                <a:spcPts val="0"/>
              </a:spcBef>
              <a:spcAft>
                <a:spcPts val="700"/>
              </a:spcAft>
              <a:defRPr sz="2400" b="1">
                <a:solidFill>
                  <a:srgbClr val="D4F4B9"/>
                </a:solidFill>
                <a:latin typeface="Arial"/>
              </a:defRPr>
            </a:pPr>
            <a:r>
              <a:t>QALA LAB  /  5 шешім. Әр санға дәлел.</a:t>
            </a:r>
          </a:p>
        </p:txBody>
      </p:sp>
      <p:sp>
        <p:nvSpPr>
          <p:cNvPr id="7" name="Rounded Rectangle 6"/>
          <p:cNvSpPr/>
          <p:nvPr/>
        </p:nvSpPr>
        <p:spPr>
          <a:xfrm>
            <a:off x="594360" y="3749039"/>
            <a:ext cx="6638544" cy="1280160"/>
          </a:xfrm>
          <a:prstGeom prst="roundRect">
            <a:avLst>
              <a:gd name="adj" fmla="val 12000"/>
            </a:avLst>
          </a:prstGeom>
          <a:solidFill>
            <a:srgbClr val="1D4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3950208"/>
            <a:ext cx="6126480" cy="274320"/>
          </a:xfrm>
          <a:prstGeom prst="rect">
            <a:avLst/>
          </a:prstGeom>
          <a:noFill/>
        </p:spPr>
        <p:txBody>
          <a:bodyPr wrap="square" lIns="0" rIns="0" tIns="0" bIns="0">
            <a:spAutoFit/>
          </a:bodyPr>
          <a:lstStyle/>
          <a:p>
            <a:pPr>
              <a:spcBef>
                <a:spcPts val="0"/>
              </a:spcBef>
              <a:spcAft>
                <a:spcPts val="700"/>
              </a:spcAft>
              <a:defRPr sz="1100" b="1">
                <a:solidFill>
                  <a:srgbClr val="D4F4B9"/>
                </a:solidFill>
                <a:latin typeface="Arial"/>
              </a:defRPr>
            </a:pPr>
            <a:r>
              <a:t>БІР КОМАНДАМЕН ІСКЕ ҚОСУ</a:t>
            </a:r>
          </a:p>
        </p:txBody>
      </p:sp>
      <p:sp>
        <p:nvSpPr>
          <p:cNvPr id="9" name="TextBox 8"/>
          <p:cNvSpPr txBox="1"/>
          <p:nvPr/>
        </p:nvSpPr>
        <p:spPr>
          <a:xfrm>
            <a:off x="832104" y="4434840"/>
            <a:ext cx="6126480" cy="338328"/>
          </a:xfrm>
          <a:prstGeom prst="rect">
            <a:avLst/>
          </a:prstGeom>
          <a:noFill/>
        </p:spPr>
        <p:txBody>
          <a:bodyPr wrap="square" lIns="0" rIns="0" tIns="0" bIns="0">
            <a:spAutoFit/>
          </a:bodyPr>
          <a:lstStyle/>
          <a:p>
            <a:pPr>
              <a:spcBef>
                <a:spcPts val="0"/>
              </a:spcBef>
              <a:spcAft>
                <a:spcPts val="700"/>
              </a:spcAft>
              <a:defRPr sz="2200" b="0">
                <a:solidFill>
                  <a:srgbClr val="FFFFFF"/>
                </a:solidFill>
                <a:latin typeface="Consolas"/>
              </a:defRPr>
            </a:pPr>
            <a:r>
              <a:t>python server.py --open</a:t>
            </a:r>
          </a:p>
        </p:txBody>
      </p:sp>
      <p:sp>
        <p:nvSpPr>
          <p:cNvPr id="10" name="TextBox 9"/>
          <p:cNvSpPr txBox="1"/>
          <p:nvPr/>
        </p:nvSpPr>
        <p:spPr>
          <a:xfrm>
            <a:off x="7690104" y="3776472"/>
            <a:ext cx="3749039" cy="384048"/>
          </a:xfrm>
          <a:prstGeom prst="rect">
            <a:avLst/>
          </a:prstGeom>
          <a:noFill/>
        </p:spPr>
        <p:txBody>
          <a:bodyPr wrap="square" lIns="0" rIns="0" tIns="0" bIns="0">
            <a:spAutoFit/>
          </a:bodyPr>
          <a:lstStyle/>
          <a:p>
            <a:pPr>
              <a:spcBef>
                <a:spcPts val="0"/>
              </a:spcBef>
              <a:spcAft>
                <a:spcPts val="700"/>
              </a:spcAft>
              <a:defRPr sz="2200" b="1">
                <a:solidFill>
                  <a:srgbClr val="FFFFFF"/>
                </a:solidFill>
                <a:latin typeface="Arial"/>
              </a:defRPr>
            </a:pPr>
            <a:r>
              <a:t>Келесі пилот қадамы</a:t>
            </a:r>
          </a:p>
        </p:txBody>
      </p:sp>
      <p:sp>
        <p:nvSpPr>
          <p:cNvPr id="11" name="TextBox 10"/>
          <p:cNvSpPr txBox="1"/>
          <p:nvPr/>
        </p:nvSpPr>
        <p:spPr>
          <a:xfrm>
            <a:off x="7699248" y="4416552"/>
            <a:ext cx="3767328" cy="950976"/>
          </a:xfrm>
          <a:prstGeom prst="rect">
            <a:avLst/>
          </a:prstGeom>
          <a:noFill/>
        </p:spPr>
        <p:txBody>
          <a:bodyPr wrap="square" lIns="0" rIns="0" tIns="0" bIns="0">
            <a:spAutoFit/>
          </a:bodyPr>
          <a:lstStyle/>
          <a:p>
            <a:pPr>
              <a:spcBef>
                <a:spcPts val="0"/>
              </a:spcBef>
              <a:spcAft>
                <a:spcPts val="700"/>
              </a:spcAft>
              <a:defRPr sz="1600" b="0">
                <a:solidFill>
                  <a:srgbClr val="D4E1DB"/>
                </a:solidFill>
                <a:latin typeface="Arial"/>
              </a:defRPr>
            </a:pPr>
            <a:r>
              <a:t>Тірі API және команда ноутбугіндегі</a:t>
            </a:r>
          </a:p>
          <a:p>
            <a:pPr>
              <a:spcBef>
                <a:spcPts val="0"/>
              </a:spcBef>
              <a:spcAft>
                <a:spcPts val="700"/>
              </a:spcAft>
              <a:defRPr sz="1600" b="0">
                <a:solidFill>
                  <a:srgbClr val="D4E1DB"/>
                </a:solidFill>
                <a:latin typeface="Arial"/>
              </a:defRPr>
            </a:pPr>
            <a:r>
              <a:t>толық демо. Нақты қалаға көшу —</a:t>
            </a:r>
          </a:p>
          <a:p>
            <a:pPr>
              <a:spcBef>
                <a:spcPts val="0"/>
              </a:spcBef>
              <a:spcAft>
                <a:spcPts val="700"/>
              </a:spcAft>
              <a:defRPr sz="1600" b="0">
                <a:solidFill>
                  <a:srgbClr val="D4E1DB"/>
                </a:solidFill>
                <a:latin typeface="Arial"/>
              </a:defRPr>
            </a:pPr>
            <a:r>
              <a:t>деректер мен модельді тексеруден кейін.</a:t>
            </a:r>
          </a:p>
        </p:txBody>
      </p:sp>
      <p:sp>
        <p:nvSpPr>
          <p:cNvPr id="12" name="TextBox 11"/>
          <p:cNvSpPr txBox="1"/>
          <p:nvPr/>
        </p:nvSpPr>
        <p:spPr>
          <a:xfrm>
            <a:off x="630936" y="5669280"/>
            <a:ext cx="10698480" cy="329184"/>
          </a:xfrm>
          <a:prstGeom prst="rect">
            <a:avLst/>
          </a:prstGeom>
          <a:noFill/>
        </p:spPr>
        <p:txBody>
          <a:bodyPr wrap="square" lIns="0" rIns="0" tIns="0" bIns="0">
            <a:spAutoFit/>
          </a:bodyPr>
          <a:lstStyle/>
          <a:p>
            <a:pPr>
              <a:spcBef>
                <a:spcPts val="0"/>
              </a:spcBef>
              <a:spcAft>
                <a:spcPts val="700"/>
              </a:spcAft>
              <a:defRPr sz="2000" b="1">
                <a:solidFill>
                  <a:srgbClr val="D4F4B9"/>
                </a:solidFill>
                <a:latin typeface="Arial"/>
              </a:defRPr>
            </a:pPr>
            <a:r>
              <a:t>Локалды прототип дайын. Қолданушы шешімі өзінде қалады.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QALA LAB — 5 шешім. Әр санға дәлел.</dc:title>
  <dc:subject>HackAlem: «5 сағатқа әкім» — синтетикалық AI-симулятор</dc:subject>
  <dc:creator>QALA LAB team</dc:creator>
  <cp:keywords>HackAlem, QALA LAB, reproducibility, synthetic simulation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